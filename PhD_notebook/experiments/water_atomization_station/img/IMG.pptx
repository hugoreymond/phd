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2" autoAdjust="0"/>
    <p:restoredTop sz="94660"/>
  </p:normalViewPr>
  <p:slideViewPr>
    <p:cSldViewPr snapToGrid="0">
      <p:cViewPr>
        <p:scale>
          <a:sx n="100" d="100"/>
          <a:sy n="100" d="100"/>
        </p:scale>
        <p:origin x="58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dtudk.sharepoint.com/sites/41735Project1/Delte%20dokumenter/General/Experiment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dtudk.sharepoint.com/sites/41735Project1/Delte%20dokumenter/General/Experiment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https://dtudk.sharepoint.com/sites/41735Project1/Delte%20dokumenter/General/Experiment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tudk.sharepoint.com/sites/41735Project1/Delte%20dokumenter/General/Experimen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2821440806253038"/>
          <c:y val="7.2218336458711979E-2"/>
          <c:w val="0.77178559193746965"/>
          <c:h val="0.755849094733747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'Alpha_3_14_omega_0_0_Z2_!_AnSl_'!$S$130</c:f>
              <c:strCache>
                <c:ptCount val="1"/>
                <c:pt idx="0">
                  <c:v>Stage 1 only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'Alpha_3_14_omega_0_0_Z2_!_AnSl_'!$T$129:$V$129</c:f>
              <c:strCache>
                <c:ptCount val="3"/>
                <c:pt idx="0">
                  <c:v>Z2= -10</c:v>
                </c:pt>
                <c:pt idx="1">
                  <c:v>z2=0</c:v>
                </c:pt>
                <c:pt idx="2">
                  <c:v>z2=10</c:v>
                </c:pt>
              </c:strCache>
            </c:strRef>
          </c:cat>
          <c:val>
            <c:numRef>
              <c:f>'Alpha_3_14_omega_0_0_Z2_!_AnSl_'!$T$130:$V$130</c:f>
              <c:numCache>
                <c:formatCode>General</c:formatCode>
                <c:ptCount val="3"/>
                <c:pt idx="0">
                  <c:v>-4.3799999999999999E-2</c:v>
                </c:pt>
                <c:pt idx="1">
                  <c:v>-5.5E-2</c:v>
                </c:pt>
                <c:pt idx="2">
                  <c:v>-0.06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FF-4FD2-A529-21C720A16E98}"/>
            </c:ext>
          </c:extLst>
        </c:ser>
        <c:ser>
          <c:idx val="1"/>
          <c:order val="1"/>
          <c:tx>
            <c:strRef>
              <c:f>'Alpha_3_14_omega_0_0_Z2_!_AnSl_'!$S$131</c:f>
              <c:strCache>
                <c:ptCount val="1"/>
                <c:pt idx="0">
                  <c:v>Stage 2 only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'Alpha_3_14_omega_0_0_Z2_!_AnSl_'!$T$129:$V$129</c:f>
              <c:strCache>
                <c:ptCount val="3"/>
                <c:pt idx="0">
                  <c:v>Z2= -10</c:v>
                </c:pt>
                <c:pt idx="1">
                  <c:v>z2=0</c:v>
                </c:pt>
                <c:pt idx="2">
                  <c:v>z2=10</c:v>
                </c:pt>
              </c:strCache>
            </c:strRef>
          </c:cat>
          <c:val>
            <c:numRef>
              <c:f>'Alpha_3_14_omega_0_0_Z2_!_AnSl_'!$T$131:$V$131</c:f>
              <c:numCache>
                <c:formatCode>General</c:formatCode>
                <c:ptCount val="3"/>
                <c:pt idx="0">
                  <c:v>1.4200000000000001E-2</c:v>
                </c:pt>
                <c:pt idx="1">
                  <c:v>3.6999999999999998E-2</c:v>
                </c:pt>
                <c:pt idx="2">
                  <c:v>-8.2000000000000003E-2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FF-4FD2-A529-21C720A16E98}"/>
            </c:ext>
          </c:extLst>
        </c:ser>
        <c:ser>
          <c:idx val="2"/>
          <c:order val="2"/>
          <c:tx>
            <c:strRef>
              <c:f>'Alpha_3_14_omega_0_0_Z2_!_AnSl_'!$S$132</c:f>
              <c:strCache>
                <c:ptCount val="1"/>
                <c:pt idx="0">
                  <c:v>both stage 1 and stage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'Alpha_3_14_omega_0_0_Z2_!_AnSl_'!$T$129:$V$129</c:f>
              <c:strCache>
                <c:ptCount val="3"/>
                <c:pt idx="0">
                  <c:v>Z2= -10</c:v>
                </c:pt>
                <c:pt idx="1">
                  <c:v>z2=0</c:v>
                </c:pt>
                <c:pt idx="2">
                  <c:v>z2=10</c:v>
                </c:pt>
              </c:strCache>
            </c:strRef>
          </c:cat>
          <c:val>
            <c:numRef>
              <c:f>'Alpha_3_14_omega_0_0_Z2_!_AnSl_'!$T$132:$V$132</c:f>
              <c:numCache>
                <c:formatCode>General</c:formatCode>
                <c:ptCount val="3"/>
                <c:pt idx="0">
                  <c:v>4.0000000000000001E-3</c:v>
                </c:pt>
                <c:pt idx="1">
                  <c:v>3.2000000000000001E-2</c:v>
                </c:pt>
                <c:pt idx="2">
                  <c:v>-5.8000000000000003E-2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FF-4FD2-A529-21C720A16E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3711696"/>
        <c:axId val="96094384"/>
      </c:barChart>
      <c:catAx>
        <c:axId val="19137116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6094384"/>
        <c:crosses val="autoZero"/>
        <c:auto val="1"/>
        <c:lblAlgn val="ctr"/>
        <c:lblOffset val="100"/>
        <c:noMultiLvlLbl val="0"/>
      </c:catAx>
      <c:valAx>
        <c:axId val="96094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r>
                  <a:rPr lang="en-US"/>
                  <a:t>MN pressure [bar]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/>
                  </a:solidFill>
                  <a:latin typeface="Georgia" panose="02040502050405020303" pitchFamily="18" charset="0"/>
                  <a:ea typeface="+mn-ea"/>
                  <a:cs typeface="+mn-cs"/>
                </a:defRPr>
              </a:pPr>
              <a:endParaRPr lang="en-D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DK"/>
          </a:p>
        </c:txPr>
        <c:crossAx val="1913711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104251050305917E-2"/>
          <c:y val="0.86493815074691949"/>
          <c:w val="0.9103568070049145"/>
          <c:h val="0.112840994069605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D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tx1"/>
          </a:solidFill>
          <a:latin typeface="Georgia" panose="02040502050405020303" pitchFamily="18" charset="0"/>
        </a:defRPr>
      </a:pPr>
      <a:endParaRPr lang="en-DK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'Alpha_3_14_omega_0_0_Z2_!_AnSl_'!$S$194</c:f>
              <c:strCache>
                <c:ptCount val="1"/>
                <c:pt idx="0">
                  <c:v>Stage 1 only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'Alpha_3_14_omega_0_0_Z2_!_AnSl_'!$T$193:$W$193</c:f>
              <c:strCache>
                <c:ptCount val="4"/>
                <c:pt idx="0">
                  <c:v>Z2= -10</c:v>
                </c:pt>
                <c:pt idx="1">
                  <c:v>z2=0</c:v>
                </c:pt>
                <c:pt idx="2">
                  <c:v>z2=5</c:v>
                </c:pt>
                <c:pt idx="3">
                  <c:v>z2=10</c:v>
                </c:pt>
              </c:strCache>
            </c:strRef>
          </c:cat>
          <c:val>
            <c:numRef>
              <c:f>'Alpha_3_14_omega_0_0_Z2_!_AnSl_'!$T$194:$W$194</c:f>
              <c:numCache>
                <c:formatCode>General</c:formatCode>
                <c:ptCount val="4"/>
                <c:pt idx="0">
                  <c:v>-1.7000000000000001E-2</c:v>
                </c:pt>
                <c:pt idx="1">
                  <c:v>-6.2E-2</c:v>
                </c:pt>
                <c:pt idx="2">
                  <c:v>-6.8000000000000005E-2</c:v>
                </c:pt>
                <c:pt idx="3">
                  <c:v>-4.8000000000000001E-2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B7-4E3A-9D73-A7FFAC5C56DF}"/>
            </c:ext>
          </c:extLst>
        </c:ser>
        <c:ser>
          <c:idx val="1"/>
          <c:order val="1"/>
          <c:tx>
            <c:strRef>
              <c:f>'Alpha_3_14_omega_0_0_Z2_!_AnSl_'!$S$195</c:f>
              <c:strCache>
                <c:ptCount val="1"/>
                <c:pt idx="0">
                  <c:v>Stage 2 only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'Alpha_3_14_omega_0_0_Z2_!_AnSl_'!$T$193:$W$193</c:f>
              <c:strCache>
                <c:ptCount val="4"/>
                <c:pt idx="0">
                  <c:v>Z2= -10</c:v>
                </c:pt>
                <c:pt idx="1">
                  <c:v>z2=0</c:v>
                </c:pt>
                <c:pt idx="2">
                  <c:v>z2=5</c:v>
                </c:pt>
                <c:pt idx="3">
                  <c:v>z2=10</c:v>
                </c:pt>
              </c:strCache>
            </c:strRef>
          </c:cat>
          <c:val>
            <c:numRef>
              <c:f>'Alpha_3_14_omega_0_0_Z2_!_AnSl_'!$T$195:$W$195</c:f>
              <c:numCache>
                <c:formatCode>General</c:formatCode>
                <c:ptCount val="4"/>
                <c:pt idx="0">
                  <c:v>6.0000000000000001E-3</c:v>
                </c:pt>
                <c:pt idx="1">
                  <c:v>4.5999999999999999E-2</c:v>
                </c:pt>
                <c:pt idx="2">
                  <c:v>0.115</c:v>
                </c:pt>
                <c:pt idx="3">
                  <c:v>-0.09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B7-4E3A-9D73-A7FFAC5C56DF}"/>
            </c:ext>
          </c:extLst>
        </c:ser>
        <c:ser>
          <c:idx val="2"/>
          <c:order val="2"/>
          <c:tx>
            <c:strRef>
              <c:f>'Alpha_3_14_omega_0_0_Z2_!_AnSl_'!$S$196</c:f>
              <c:strCache>
                <c:ptCount val="1"/>
                <c:pt idx="0">
                  <c:v>both stage 1 and stage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'Alpha_3_14_omega_0_0_Z2_!_AnSl_'!$T$193:$W$193</c:f>
              <c:strCache>
                <c:ptCount val="4"/>
                <c:pt idx="0">
                  <c:v>Z2= -10</c:v>
                </c:pt>
                <c:pt idx="1">
                  <c:v>z2=0</c:v>
                </c:pt>
                <c:pt idx="2">
                  <c:v>z2=5</c:v>
                </c:pt>
                <c:pt idx="3">
                  <c:v>z2=10</c:v>
                </c:pt>
              </c:strCache>
            </c:strRef>
          </c:cat>
          <c:val>
            <c:numRef>
              <c:f>'Alpha_3_14_omega_0_0_Z2_!_AnSl_'!$T$196:$W$196</c:f>
              <c:numCache>
                <c:formatCode>General</c:formatCode>
                <c:ptCount val="4"/>
                <c:pt idx="0">
                  <c:v>1.7000000000000001E-2</c:v>
                </c:pt>
                <c:pt idx="1">
                  <c:v>-1.4E-2</c:v>
                </c:pt>
                <c:pt idx="2">
                  <c:v>-0.04</c:v>
                </c:pt>
                <c:pt idx="3">
                  <c:v>-4.1000000000000002E-2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B7-4E3A-9D73-A7FFAC5C56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937392"/>
        <c:axId val="96078064"/>
      </c:barChart>
      <c:catAx>
        <c:axId val="1419373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6078064"/>
        <c:crosses val="autoZero"/>
        <c:auto val="1"/>
        <c:lblAlgn val="ctr"/>
        <c:lblOffset val="100"/>
        <c:noMultiLvlLbl val="0"/>
      </c:catAx>
      <c:valAx>
        <c:axId val="96078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1050" b="0" i="0" u="none" strike="noStrike" kern="1200" baseline="0">
                    <a:solidFill>
                      <a:schemeClr val="tx1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r>
                  <a:rPr lang="en-US"/>
                  <a:t>MN pressure [bar]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1050" b="0" i="0" u="none" strike="noStrike" kern="1200" baseline="0">
                  <a:solidFill>
                    <a:schemeClr val="tx1"/>
                  </a:solidFill>
                  <a:latin typeface="Georgia" panose="02040502050405020303" pitchFamily="18" charset="0"/>
                  <a:ea typeface="+mn-ea"/>
                  <a:cs typeface="+mn-cs"/>
                </a:defRPr>
              </a:pPr>
              <a:endParaRPr lang="en-D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DK"/>
          </a:p>
        </c:txPr>
        <c:crossAx val="141937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D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tx1"/>
          </a:solidFill>
          <a:latin typeface="Georgia" panose="02040502050405020303" pitchFamily="18" charset="0"/>
        </a:defRPr>
      </a:pPr>
      <a:endParaRPr lang="en-DK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'Alpha_3_14_omega_0_0_Z2_!_AnSl_'!$S$305</c:f>
              <c:strCache>
                <c:ptCount val="1"/>
                <c:pt idx="0">
                  <c:v>Stage 1 only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'Alpha_3_14_omega_0_0_Z2_!_AnSl_'!$T$304:$W$304</c:f>
              <c:strCache>
                <c:ptCount val="4"/>
                <c:pt idx="0">
                  <c:v>Z2= -10</c:v>
                </c:pt>
                <c:pt idx="1">
                  <c:v>z2=0</c:v>
                </c:pt>
                <c:pt idx="2">
                  <c:v>z2=5</c:v>
                </c:pt>
                <c:pt idx="3">
                  <c:v>z2=10</c:v>
                </c:pt>
              </c:strCache>
            </c:strRef>
          </c:cat>
          <c:val>
            <c:numRef>
              <c:f>'Alpha_3_14_omega_0_0_Z2_!_AnSl_'!$T$305:$W$305</c:f>
              <c:numCache>
                <c:formatCode>General</c:formatCode>
                <c:ptCount val="4"/>
                <c:pt idx="0">
                  <c:v>-1.7000000000000001E-2</c:v>
                </c:pt>
                <c:pt idx="1">
                  <c:v>-6.2E-2</c:v>
                </c:pt>
                <c:pt idx="2">
                  <c:v>-6.8000000000000005E-2</c:v>
                </c:pt>
                <c:pt idx="3">
                  <c:v>-4.8000000000000001E-2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D9-4A07-9543-FCFDB8FD438C}"/>
            </c:ext>
          </c:extLst>
        </c:ser>
        <c:ser>
          <c:idx val="1"/>
          <c:order val="1"/>
          <c:tx>
            <c:strRef>
              <c:f>'Alpha_3_14_omega_0_0_Z2_!_AnSl_'!$S$306</c:f>
              <c:strCache>
                <c:ptCount val="1"/>
                <c:pt idx="0">
                  <c:v>Stage 2 only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'Alpha_3_14_omega_0_0_Z2_!_AnSl_'!$T$304:$W$304</c:f>
              <c:strCache>
                <c:ptCount val="4"/>
                <c:pt idx="0">
                  <c:v>Z2= -10</c:v>
                </c:pt>
                <c:pt idx="1">
                  <c:v>z2=0</c:v>
                </c:pt>
                <c:pt idx="2">
                  <c:v>z2=5</c:v>
                </c:pt>
                <c:pt idx="3">
                  <c:v>z2=10</c:v>
                </c:pt>
              </c:strCache>
            </c:strRef>
          </c:cat>
          <c:val>
            <c:numRef>
              <c:f>'Alpha_3_14_omega_0_0_Z2_!_AnSl_'!$T$306:$W$306</c:f>
              <c:numCache>
                <c:formatCode>General</c:formatCode>
                <c:ptCount val="4"/>
                <c:pt idx="0">
                  <c:v>-8.9999999999999993E-3</c:v>
                </c:pt>
                <c:pt idx="1">
                  <c:v>-1.4E-2</c:v>
                </c:pt>
                <c:pt idx="2">
                  <c:v>6.2E-2</c:v>
                </c:pt>
                <c:pt idx="3">
                  <c:v>-0.11600000000000001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D9-4A07-9543-FCFDB8FD438C}"/>
            </c:ext>
          </c:extLst>
        </c:ser>
        <c:ser>
          <c:idx val="2"/>
          <c:order val="2"/>
          <c:tx>
            <c:strRef>
              <c:f>'Alpha_3_14_omega_0_0_Z2_!_AnSl_'!$S$307</c:f>
              <c:strCache>
                <c:ptCount val="1"/>
                <c:pt idx="0">
                  <c:v>both stage 1 and stage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'Alpha_3_14_omega_0_0_Z2_!_AnSl_'!$T$304:$W$304</c:f>
              <c:strCache>
                <c:ptCount val="4"/>
                <c:pt idx="0">
                  <c:v>Z2= -10</c:v>
                </c:pt>
                <c:pt idx="1">
                  <c:v>z2=0</c:v>
                </c:pt>
                <c:pt idx="2">
                  <c:v>z2=5</c:v>
                </c:pt>
                <c:pt idx="3">
                  <c:v>z2=10</c:v>
                </c:pt>
              </c:strCache>
            </c:strRef>
          </c:cat>
          <c:val>
            <c:numRef>
              <c:f>'Alpha_3_14_omega_0_0_Z2_!_AnSl_'!$T$307:$W$307</c:f>
              <c:numCache>
                <c:formatCode>General</c:formatCode>
                <c:ptCount val="4"/>
                <c:pt idx="0">
                  <c:v>6.0000000000000001E-3</c:v>
                </c:pt>
                <c:pt idx="1">
                  <c:v>0.01</c:v>
                </c:pt>
                <c:pt idx="2">
                  <c:v>-5.8000000000000003E-2</c:v>
                </c:pt>
                <c:pt idx="3">
                  <c:v>-6.4000000000000001E-2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D9-4A07-9543-FCFDB8FD43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4255728"/>
        <c:axId val="96037264"/>
      </c:barChart>
      <c:catAx>
        <c:axId val="4242557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6037264"/>
        <c:crosses val="autoZero"/>
        <c:auto val="1"/>
        <c:lblAlgn val="ctr"/>
        <c:lblOffset val="100"/>
        <c:noMultiLvlLbl val="0"/>
      </c:catAx>
      <c:valAx>
        <c:axId val="96037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1050" b="0" i="0" u="none" strike="noStrike" kern="1200" baseline="0">
                    <a:solidFill>
                      <a:schemeClr val="tx1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r>
                  <a:rPr lang="en-US"/>
                  <a:t>MN pressure [bar]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1050" b="0" i="0" u="none" strike="noStrike" kern="1200" baseline="0">
                  <a:solidFill>
                    <a:schemeClr val="tx1"/>
                  </a:solidFill>
                  <a:latin typeface="Georgia" panose="02040502050405020303" pitchFamily="18" charset="0"/>
                  <a:ea typeface="+mn-ea"/>
                  <a:cs typeface="+mn-cs"/>
                </a:defRPr>
              </a:pPr>
              <a:endParaRPr lang="en-D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DK"/>
          </a:p>
        </c:txPr>
        <c:crossAx val="424255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D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>
          <a:solidFill>
            <a:schemeClr val="tx1"/>
          </a:solidFill>
          <a:latin typeface="Georgia" panose="02040502050405020303" pitchFamily="18" charset="0"/>
        </a:defRPr>
      </a:pPr>
      <a:endParaRPr lang="en-DK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ysClr val="windowText" lastClr="000000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r>
              <a:rPr lang="en-US"/>
              <a:t>Melt nozzle pressure as a function of inlet pressure</a:t>
            </a:r>
          </a:p>
          <a:p>
            <a:pPr>
              <a:defRPr/>
            </a:pPr>
            <a:r>
              <a:rPr lang="en-US"/>
              <a:t>Alpha_14_omega_!_Z2_!_AnSl_reg</a:t>
            </a:r>
          </a:p>
        </c:rich>
      </c:tx>
      <c:layout>
        <c:manualLayout>
          <c:xMode val="edge"/>
          <c:yMode val="edge"/>
          <c:x val="0.24834994039569838"/>
          <c:y val="1.65819538353928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ysClr val="windowText" lastClr="000000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DK"/>
        </a:p>
      </c:txPr>
    </c:title>
    <c:autoTitleDeleted val="0"/>
    <c:plotArea>
      <c:layout/>
      <c:scatterChart>
        <c:scatterStyle val="lineMarker"/>
        <c:varyColors val="0"/>
        <c:ser>
          <c:idx val="4"/>
          <c:order val="0"/>
          <c:tx>
            <c:v>p_0_! Omega=0 z2=10</c:v>
          </c:tx>
          <c:spPr>
            <a:ln w="19050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errBars>
            <c:errDir val="y"/>
            <c:errBarType val="both"/>
            <c:errValType val="fixedVal"/>
            <c:noEndCap val="0"/>
            <c:val val="2.4330000000000001E-2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'Alpha_3_14_omega_0_0_Z2_!_AnSl_'!$B$248:$B$251</c:f>
              <c:numCache>
                <c:formatCode>General</c:formatCode>
                <c:ptCount val="4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</c:numCache>
            </c:numRef>
          </c:xVal>
          <c:yVal>
            <c:numRef>
              <c:f>'Alpha_3_14_omega_0_0_Z2_!_AnSl_'!$C$248:$C$251</c:f>
              <c:numCache>
                <c:formatCode>General</c:formatCode>
                <c:ptCount val="4"/>
                <c:pt idx="0">
                  <c:v>-1.7000000000000001E-2</c:v>
                </c:pt>
                <c:pt idx="1">
                  <c:v>-4.3999999999999997E-2</c:v>
                </c:pt>
                <c:pt idx="2">
                  <c:v>-6.9000000000000006E-2</c:v>
                </c:pt>
                <c:pt idx="3">
                  <c:v>-0.09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E5F-420B-983F-215D35C327F7}"/>
            </c:ext>
          </c:extLst>
        </c:ser>
        <c:ser>
          <c:idx val="7"/>
          <c:order val="1"/>
          <c:tx>
            <c:v>p_0_! Omega=0 z2= 5</c:v>
          </c:tx>
          <c:spPr>
            <a:ln w="19050" cap="rnd">
              <a:solidFill>
                <a:srgbClr val="2F3EE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F3EEA"/>
              </a:solidFill>
              <a:ln w="9525">
                <a:solidFill>
                  <a:srgbClr val="2F3EEA"/>
                </a:solidFill>
              </a:ln>
              <a:effectLst/>
            </c:spPr>
          </c:marker>
          <c:xVal>
            <c:numRef>
              <c:f>'Alpha_3_14_omega_0_0_Z2_!_AnSl_'!$B$200:$B$203</c:f>
              <c:numCache>
                <c:formatCode>General</c:formatCode>
                <c:ptCount val="4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</c:numCache>
            </c:numRef>
          </c:xVal>
          <c:yVal>
            <c:numRef>
              <c:f>'Alpha_3_14_omega_0_0_Z2_!_AnSl_'!$C$200:$C$203</c:f>
              <c:numCache>
                <c:formatCode>General</c:formatCode>
                <c:ptCount val="4"/>
                <c:pt idx="0">
                  <c:v>4.4999999999999998E-2</c:v>
                </c:pt>
                <c:pt idx="1">
                  <c:v>0.08</c:v>
                </c:pt>
                <c:pt idx="2">
                  <c:v>0.105</c:v>
                </c:pt>
                <c:pt idx="3">
                  <c:v>0.115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E5F-420B-983F-215D35C327F7}"/>
            </c:ext>
          </c:extLst>
        </c:ser>
        <c:ser>
          <c:idx val="6"/>
          <c:order val="2"/>
          <c:tx>
            <c:v>p_0_! Omega=0 z2= 0</c:v>
          </c:tx>
          <c:spPr>
            <a:ln w="19050" cap="rnd">
              <a:solidFill>
                <a:srgbClr val="00206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/>
            </c:spPr>
          </c:marker>
          <c:xVal>
            <c:numRef>
              <c:f>'Alpha_3_14_omega_0_0_Z2_!_AnSl_'!$B$216:$B$219</c:f>
              <c:numCache>
                <c:formatCode>General</c:formatCode>
                <c:ptCount val="4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</c:numCache>
            </c:numRef>
          </c:xVal>
          <c:yVal>
            <c:numRef>
              <c:f>'Alpha_3_14_omega_0_0_Z2_!_AnSl_'!$C$216:$C$219</c:f>
              <c:numCache>
                <c:formatCode>General</c:formatCode>
                <c:ptCount val="4"/>
                <c:pt idx="0">
                  <c:v>1.4999999999999999E-2</c:v>
                </c:pt>
                <c:pt idx="1">
                  <c:v>2.7E-2</c:v>
                </c:pt>
                <c:pt idx="2">
                  <c:v>0.04</c:v>
                </c:pt>
                <c:pt idx="3">
                  <c:v>4.5999999999999999E-2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E5F-420B-983F-215D35C327F7}"/>
            </c:ext>
          </c:extLst>
        </c:ser>
        <c:ser>
          <c:idx val="5"/>
          <c:order val="3"/>
          <c:tx>
            <c:v>p_0_! Omega=0 z2= -10</c:v>
          </c:tx>
          <c:spPr>
            <a:ln w="19050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xVal>
            <c:numRef>
              <c:f>'Alpha_3_14_omega_0_0_Z2_!_AnSl_'!$B$233:$B$236</c:f>
              <c:numCache>
                <c:formatCode>General</c:formatCode>
                <c:ptCount val="4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</c:numCache>
            </c:numRef>
          </c:xVal>
          <c:yVal>
            <c:numRef>
              <c:f>'Alpha_3_14_omega_0_0_Z2_!_AnSl_'!$C$233:$C$236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5.0000000000000001E-3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E5F-420B-983F-215D35C327F7}"/>
            </c:ext>
          </c:extLst>
        </c:ser>
        <c:ser>
          <c:idx val="0"/>
          <c:order val="4"/>
          <c:tx>
            <c:v>p_0_! Omega=45 z2=10</c:v>
          </c:tx>
          <c:spPr>
            <a:ln w="19050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'Alpha_3_14_omega_0_0_Z2_!_AnSl_'!$B$343:$B$347</c:f>
              <c:numCache>
                <c:formatCode>General</c:formatCode>
                <c:ptCount val="5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1.05</c:v>
                </c:pt>
              </c:numCache>
            </c:numRef>
          </c:xVal>
          <c:yVal>
            <c:numRef>
              <c:f>'Alpha_3_14_omega_0_0_Z2_!_AnSl_'!$C$343:$C$347</c:f>
              <c:numCache>
                <c:formatCode>General</c:formatCode>
                <c:ptCount val="5"/>
                <c:pt idx="0">
                  <c:v>-4.3999999999999997E-2</c:v>
                </c:pt>
                <c:pt idx="1">
                  <c:v>-7.3999999999999996E-2</c:v>
                </c:pt>
                <c:pt idx="2">
                  <c:v>-9.7000000000000003E-2</c:v>
                </c:pt>
                <c:pt idx="3">
                  <c:v>-0.11600000000000001</c:v>
                </c:pt>
                <c:pt idx="4">
                  <c:v>-0.11899999999999999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E5F-420B-983F-215D35C327F7}"/>
            </c:ext>
          </c:extLst>
        </c:ser>
        <c:ser>
          <c:idx val="3"/>
          <c:order val="5"/>
          <c:tx>
            <c:v>p_0_! Omega=45 z2=5</c:v>
          </c:tx>
          <c:spPr>
            <a:ln w="19050" cap="rnd">
              <a:solidFill>
                <a:srgbClr val="2F3EEA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rgbClr val="2F3EEA"/>
              </a:solidFill>
              <a:ln w="9525">
                <a:solidFill>
                  <a:srgbClr val="2F3EEA"/>
                </a:solidFill>
              </a:ln>
              <a:effectLst/>
            </c:spPr>
          </c:marker>
          <c:xVal>
            <c:numRef>
              <c:f>'Alpha_3_14_omega_0_0_Z2_!_AnSl_'!$B$295:$B$298</c:f>
              <c:numCache>
                <c:formatCode>General</c:formatCode>
                <c:ptCount val="4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1.04</c:v>
                </c:pt>
              </c:numCache>
            </c:numRef>
          </c:xVal>
          <c:yVal>
            <c:numRef>
              <c:f>'Alpha_3_14_omega_0_0_Z2_!_AnSl_'!$C$295:$C$298</c:f>
              <c:numCache>
                <c:formatCode>General</c:formatCode>
                <c:ptCount val="4"/>
                <c:pt idx="0">
                  <c:v>1E-3</c:v>
                </c:pt>
                <c:pt idx="1">
                  <c:v>3.3000000000000002E-2</c:v>
                </c:pt>
                <c:pt idx="2">
                  <c:v>5.0999999999999997E-2</c:v>
                </c:pt>
                <c:pt idx="3">
                  <c:v>6.2E-2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3E5F-420B-983F-215D35C327F7}"/>
            </c:ext>
          </c:extLst>
        </c:ser>
        <c:ser>
          <c:idx val="2"/>
          <c:order val="6"/>
          <c:tx>
            <c:v>p_0_! Omega=45 z2=0</c:v>
          </c:tx>
          <c:spPr>
            <a:ln w="19050" cap="rnd">
              <a:solidFill>
                <a:srgbClr val="002060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/>
            </c:spPr>
          </c:marker>
          <c:xVal>
            <c:numRef>
              <c:f>'Alpha_3_14_omega_0_0_Z2_!_AnSl_'!$B$311:$B$315</c:f>
              <c:numCache>
                <c:formatCode>General</c:formatCode>
                <c:ptCount val="5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1.06</c:v>
                </c:pt>
              </c:numCache>
            </c:numRef>
          </c:xVal>
          <c:yVal>
            <c:numRef>
              <c:f>'Alpha_3_14_omega_0_0_Z2_!_AnSl_'!$C$311:$C$315</c:f>
              <c:numCache>
                <c:formatCode>General</c:formatCode>
                <c:ptCount val="5"/>
                <c:pt idx="0">
                  <c:v>-1.2E-2</c:v>
                </c:pt>
                <c:pt idx="1">
                  <c:v>-1.4999999999999999E-2</c:v>
                </c:pt>
                <c:pt idx="2">
                  <c:v>-1.4999999999999999E-2</c:v>
                </c:pt>
                <c:pt idx="3">
                  <c:v>-1.4E-2</c:v>
                </c:pt>
                <c:pt idx="4">
                  <c:v>-1.2999999999999999E-2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3E5F-420B-983F-215D35C327F7}"/>
            </c:ext>
          </c:extLst>
        </c:ser>
        <c:ser>
          <c:idx val="1"/>
          <c:order val="7"/>
          <c:tx>
            <c:v>p_0_! Omega=45 z2= -10</c:v>
          </c:tx>
          <c:spPr>
            <a:ln w="1905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xVal>
            <c:numRef>
              <c:f>'Alpha_3_14_omega_0_0_Z2_!_AnSl_'!$B$328:$B$332</c:f>
              <c:numCache>
                <c:formatCode>General</c:formatCode>
                <c:ptCount val="5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1.05</c:v>
                </c:pt>
              </c:numCache>
            </c:numRef>
          </c:xVal>
          <c:yVal>
            <c:numRef>
              <c:f>'Alpha_3_14_omega_0_0_Z2_!_AnSl_'!$C$328:$C$332</c:f>
              <c:numCache>
                <c:formatCode>General</c:formatCode>
                <c:ptCount val="5"/>
                <c:pt idx="0">
                  <c:v>-1.0999999999999999E-2</c:v>
                </c:pt>
                <c:pt idx="1">
                  <c:v>-1.2999999999999999E-2</c:v>
                </c:pt>
                <c:pt idx="2">
                  <c:v>-1.2999999999999999E-2</c:v>
                </c:pt>
                <c:pt idx="3">
                  <c:v>-8.9999999999999993E-3</c:v>
                </c:pt>
                <c:pt idx="4">
                  <c:v>-8.0000000000000002E-3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3E5F-420B-983F-215D35C32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47252112"/>
        <c:axId val="534091056"/>
      </c:scatterChart>
      <c:valAx>
        <c:axId val="947252112"/>
        <c:scaling>
          <c:orientation val="minMax"/>
          <c:min val="0.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r>
                  <a:rPr lang="en-US"/>
                  <a:t>Inlet pressure [bar]</a:t>
                </a:r>
              </a:p>
            </c:rich>
          </c:tx>
          <c:layout>
            <c:manualLayout>
              <c:xMode val="edge"/>
              <c:yMode val="edge"/>
              <c:x val="0.32015173275959979"/>
              <c:y val="0.943360783399393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Georgia" panose="02040502050405020303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DK"/>
          </a:p>
        </c:txPr>
        <c:crossAx val="534091056"/>
        <c:crosses val="autoZero"/>
        <c:crossBetween val="midCat"/>
      </c:valAx>
      <c:valAx>
        <c:axId val="534091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r>
                  <a:rPr lang="en-US"/>
                  <a:t>MN pressure [bar]</a:t>
                </a:r>
              </a:p>
            </c:rich>
          </c:tx>
          <c:layout>
            <c:manualLayout>
              <c:xMode val="edge"/>
              <c:yMode val="edge"/>
              <c:x val="6.3936867830512324E-3"/>
              <c:y val="0.3677825134063884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Georgia" panose="02040502050405020303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DK"/>
          </a:p>
        </c:txPr>
        <c:crossAx val="9472521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ysClr val="windowText" lastClr="000000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D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Georgia" panose="02040502050405020303" pitchFamily="18" charset="0"/>
        </a:defRPr>
      </a:pPr>
      <a:endParaRPr lang="en-DK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ysClr val="windowText" lastClr="000000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r>
              <a:rPr lang="da-DK" sz="1400"/>
              <a:t> </a:t>
            </a:r>
            <a:r>
              <a:rPr lang="en-US" sz="1400"/>
              <a:t>Melt nozzle pressure as a function of inlet pressure</a:t>
            </a:r>
          </a:p>
          <a:p>
            <a:pPr>
              <a:defRPr/>
            </a:pPr>
            <a:r>
              <a:rPr lang="en-US" sz="1400"/>
              <a:t>P_!_Alpha_!_omega_0_Z2_!_DJ_1.5_RJ_6_AnSl_Reg</a:t>
            </a:r>
          </a:p>
        </c:rich>
      </c:tx>
      <c:layout>
        <c:manualLayout>
          <c:xMode val="edge"/>
          <c:yMode val="edge"/>
          <c:x val="0.23789583842793893"/>
          <c:y val="2.43762464035439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ysClr val="windowText" lastClr="000000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da-DK"/>
        </a:p>
      </c:txPr>
    </c:title>
    <c:autoTitleDeleted val="0"/>
    <c:plotArea>
      <c:layout>
        <c:manualLayout>
          <c:layoutTarget val="inner"/>
          <c:xMode val="edge"/>
          <c:yMode val="edge"/>
          <c:x val="7.970764408190259E-2"/>
          <c:y val="0.17171296296296296"/>
          <c:w val="0.65505464666657598"/>
          <c:h val="0.77736111111111106"/>
        </c:manualLayout>
      </c:layout>
      <c:scatterChart>
        <c:scatterStyle val="lineMarker"/>
        <c:varyColors val="0"/>
        <c:ser>
          <c:idx val="0"/>
          <c:order val="0"/>
          <c:tx>
            <c:v>exp Alpha=0, Z2=-10</c:v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</c:numRef>
          </c:xVal>
          <c:yVal>
            <c:numRef>
              <c:f>'Alpha_!_omega_!_Z2_!_rj_!'!$D$63:$I$63</c:f>
              <c:numCache>
                <c:formatCode>General</c:formatCode>
                <c:ptCount val="6"/>
                <c:pt idx="0">
                  <c:v>-2.75E-2</c:v>
                </c:pt>
                <c:pt idx="1">
                  <c:v>-4.2999999999999997E-2</c:v>
                </c:pt>
                <c:pt idx="2">
                  <c:v>-5.3999999999999999E-2</c:v>
                </c:pt>
                <c:pt idx="3">
                  <c:v>-5.0999999999999997E-2</c:v>
                </c:pt>
                <c:pt idx="4">
                  <c:v>-6.6000000000000003E-2</c:v>
                </c:pt>
                <c:pt idx="5">
                  <c:v>-6.6000000000000003E-2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FD-49DC-9074-533300CF8809}"/>
            </c:ext>
          </c:extLst>
        </c:ser>
        <c:ser>
          <c:idx val="1"/>
          <c:order val="1"/>
          <c:tx>
            <c:v>exp Alpha=10, Z2=-10</c:v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</c:numRef>
          </c:xVal>
          <c:yVal>
            <c:numRef>
              <c:f>'Alpha_!_omega_!_Z2_!_rj_!'!$D$64:$I$64</c:f>
              <c:numCache>
                <c:formatCode>General</c:formatCode>
                <c:ptCount val="6"/>
                <c:pt idx="0">
                  <c:v>-5.0000000000000001E-3</c:v>
                </c:pt>
                <c:pt idx="1">
                  <c:v>-6.0000000000000001E-3</c:v>
                </c:pt>
                <c:pt idx="2">
                  <c:v>-8.9999999999999993E-3</c:v>
                </c:pt>
                <c:pt idx="3">
                  <c:v>-1.35E-2</c:v>
                </c:pt>
                <c:pt idx="4">
                  <c:v>-1.7999999999999999E-2</c:v>
                </c:pt>
                <c:pt idx="5">
                  <c:v>-3.5000000000000003E-2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1FD-49DC-9074-533300CF8809}"/>
            </c:ext>
          </c:extLst>
        </c:ser>
        <c:ser>
          <c:idx val="2"/>
          <c:order val="2"/>
          <c:tx>
            <c:v>exp Alpha=20, Z2=-10</c:v>
          </c:tx>
          <c:spPr>
            <a:ln w="19050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</c:numRef>
          </c:xVal>
          <c:yVal>
            <c:numRef>
              <c:f>'Alpha_!_omega_!_Z2_!_rj_!'!$D$65:$I$65</c:f>
              <c:numCache>
                <c:formatCode>General</c:formatCode>
                <c:ptCount val="6"/>
                <c:pt idx="0">
                  <c:v>3.0000000000000001E-3</c:v>
                </c:pt>
                <c:pt idx="1">
                  <c:v>7.0000000000000001E-3</c:v>
                </c:pt>
                <c:pt idx="2">
                  <c:v>1.2999999999999999E-2</c:v>
                </c:pt>
                <c:pt idx="3">
                  <c:v>2.7E-2</c:v>
                </c:pt>
                <c:pt idx="4">
                  <c:v>1.7999999999999999E-2</c:v>
                </c:pt>
                <c:pt idx="5">
                  <c:v>1.4999999999999999E-2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1FD-49DC-9074-533300CF8809}"/>
            </c:ext>
          </c:extLst>
        </c:ser>
        <c:ser>
          <c:idx val="3"/>
          <c:order val="3"/>
          <c:tx>
            <c:v>exp Alpha=0, Z2=-5</c:v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</c:numRef>
          </c:xVal>
          <c:yVal>
            <c:numRef>
              <c:f>'Alpha_!_omega_!_Z2_!_rj_!'!$D$66:$I$66</c:f>
              <c:numCache>
                <c:formatCode>General</c:formatCode>
                <c:ptCount val="6"/>
                <c:pt idx="0">
                  <c:v>-2.5999999999999999E-2</c:v>
                </c:pt>
                <c:pt idx="1">
                  <c:v>-3.95E-2</c:v>
                </c:pt>
                <c:pt idx="2">
                  <c:v>-4.9000000000000002E-2</c:v>
                </c:pt>
                <c:pt idx="3">
                  <c:v>-4.7500000000000001E-2</c:v>
                </c:pt>
                <c:pt idx="4">
                  <c:v>-6.5000000000000002E-2</c:v>
                </c:pt>
                <c:pt idx="5">
                  <c:v>-6.4000000000000001E-2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1FD-49DC-9074-533300CF8809}"/>
            </c:ext>
          </c:extLst>
        </c:ser>
        <c:ser>
          <c:idx val="4"/>
          <c:order val="4"/>
          <c:tx>
            <c:v>exp Alpha=10, Z2=-5</c:v>
          </c:tx>
          <c:spPr>
            <a:ln w="19050" cap="rnd">
              <a:solidFill>
                <a:srgbClr val="0070C0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errBars>
            <c:errDir val="y"/>
            <c:errBarType val="both"/>
            <c:errValType val="fixedVal"/>
            <c:noEndCap val="0"/>
            <c:val val="2.4330000000000001E-2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</c:numRef>
          </c:xVal>
          <c:yVal>
            <c:numRef>
              <c:f>'Alpha_!_omega_!_Z2_!_rj_!'!$D$67:$I$67</c:f>
              <c:numCache>
                <c:formatCode>General</c:formatCode>
                <c:ptCount val="6"/>
                <c:pt idx="0">
                  <c:v>-3.5000000000000001E-3</c:v>
                </c:pt>
                <c:pt idx="1">
                  <c:v>-4.4999999999999997E-3</c:v>
                </c:pt>
                <c:pt idx="2">
                  <c:v>-7.0000000000000001E-3</c:v>
                </c:pt>
                <c:pt idx="3">
                  <c:v>-1.2E-2</c:v>
                </c:pt>
                <c:pt idx="4">
                  <c:v>-1.6E-2</c:v>
                </c:pt>
                <c:pt idx="5">
                  <c:v>-2.9000000000000001E-2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1FD-49DC-9074-533300CF8809}"/>
            </c:ext>
          </c:extLst>
        </c:ser>
        <c:ser>
          <c:idx val="5"/>
          <c:order val="5"/>
          <c:tx>
            <c:v>exp Alpha=20, Z2=-5</c:v>
          </c:tx>
          <c:spPr>
            <a:ln w="19050" cap="rnd">
              <a:solidFill>
                <a:srgbClr val="0070C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</c:numRef>
          </c:xVal>
          <c:yVal>
            <c:numRef>
              <c:f>'Alpha_!_omega_!_Z2_!_rj_!'!$D$68:$I$68</c:f>
              <c:numCache>
                <c:formatCode>General</c:formatCode>
                <c:ptCount val="6"/>
                <c:pt idx="0">
                  <c:v>6.0000000000000001E-3</c:v>
                </c:pt>
                <c:pt idx="1">
                  <c:v>1.2E-2</c:v>
                </c:pt>
                <c:pt idx="2">
                  <c:v>1.7999999999999999E-2</c:v>
                </c:pt>
                <c:pt idx="3">
                  <c:v>0.03</c:v>
                </c:pt>
                <c:pt idx="4">
                  <c:v>2.1999999999999999E-2</c:v>
                </c:pt>
                <c:pt idx="5">
                  <c:v>2.1999999999999999E-2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1FD-49DC-9074-533300CF8809}"/>
            </c:ext>
          </c:extLst>
        </c:ser>
        <c:ser>
          <c:idx val="6"/>
          <c:order val="6"/>
          <c:tx>
            <c:v>exp Alpha=0, Z2=0</c:v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</c:numRef>
          </c:xVal>
          <c:yVal>
            <c:numRef>
              <c:f>'Alpha_!_omega_!_Z2_!_rj_!'!$D$69:$I$69</c:f>
              <c:numCache>
                <c:formatCode>0.0000</c:formatCode>
                <c:ptCount val="6"/>
                <c:pt idx="0">
                  <c:v>-2.4500000000000001E-2</c:v>
                </c:pt>
                <c:pt idx="1">
                  <c:v>-4.1000000000000002E-2</c:v>
                </c:pt>
                <c:pt idx="2">
                  <c:v>-5.2999999999999999E-2</c:v>
                </c:pt>
                <c:pt idx="3" formatCode="0.000">
                  <c:v>-5.6000000000000001E-2</c:v>
                </c:pt>
                <c:pt idx="4" formatCode="0.000">
                  <c:v>-6.9000000000000006E-2</c:v>
                </c:pt>
                <c:pt idx="5" formatCode="0.000">
                  <c:v>-7.1999999999999995E-2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01FD-49DC-9074-533300CF8809}"/>
            </c:ext>
          </c:extLst>
        </c:ser>
        <c:ser>
          <c:idx val="7"/>
          <c:order val="7"/>
          <c:tx>
            <c:v>exp Alpha=10, Z2=0</c:v>
          </c:tx>
          <c:spPr>
            <a:ln w="1905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</c:numRef>
          </c:xVal>
          <c:yVal>
            <c:numRef>
              <c:f>'Alpha_!_omega_!_Z2_!_rj_!'!$D$70:$I$70</c:f>
              <c:numCache>
                <c:formatCode>General</c:formatCode>
                <c:ptCount val="6"/>
                <c:pt idx="0">
                  <c:v>-5.0000000000000001E-3</c:v>
                </c:pt>
                <c:pt idx="1">
                  <c:v>-8.9999999999999993E-3</c:v>
                </c:pt>
                <c:pt idx="2">
                  <c:v>-1.7000000000000001E-2</c:v>
                </c:pt>
                <c:pt idx="3">
                  <c:v>-1.7000000000000001E-2</c:v>
                </c:pt>
                <c:pt idx="4">
                  <c:v>-2.4E-2</c:v>
                </c:pt>
                <c:pt idx="5">
                  <c:v>-4.2000000000000003E-2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01FD-49DC-9074-533300CF8809}"/>
            </c:ext>
          </c:extLst>
        </c:ser>
        <c:ser>
          <c:idx val="8"/>
          <c:order val="8"/>
          <c:tx>
            <c:v>exp Alpha=20, Z2=0</c:v>
          </c:tx>
          <c:spPr>
            <a:ln w="19050" cap="rnd">
              <a:solidFill>
                <a:srgbClr val="00B05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</c:numRef>
          </c:xVal>
          <c:yVal>
            <c:numRef>
              <c:f>'Alpha_!_omega_!_Z2_!_rj_!'!$D$71:$I$71</c:f>
              <c:numCache>
                <c:formatCode>General</c:formatCode>
                <c:ptCount val="6"/>
                <c:pt idx="0">
                  <c:v>4.0000000000000001E-3</c:v>
                </c:pt>
                <c:pt idx="1">
                  <c:v>8.0000000000000002E-3</c:v>
                </c:pt>
                <c:pt idx="2">
                  <c:v>1.2E-2</c:v>
                </c:pt>
                <c:pt idx="3">
                  <c:v>2.3E-2</c:v>
                </c:pt>
                <c:pt idx="4">
                  <c:v>1.4999999999999999E-2</c:v>
                </c:pt>
                <c:pt idx="5">
                  <c:v>7.0000000000000001E-3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01FD-49DC-9074-533300CF8809}"/>
            </c:ext>
          </c:extLst>
        </c:ser>
        <c:ser>
          <c:idx val="9"/>
          <c:order val="9"/>
          <c:tx>
            <c:v>exp Alpha=0, Z2=5</c:v>
          </c:tx>
          <c:spPr>
            <a:ln w="19050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  <a:prstDash val="solid"/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  <c:extLst xmlns:c15="http://schemas.microsoft.com/office/drawing/2012/chart"/>
            </c:numRef>
          </c:xVal>
          <c:yVal>
            <c:numRef>
              <c:f>'Alpha_!_omega_!_Z2_!_rj_!'!$D$72:$I$72</c:f>
              <c:numCache>
                <c:formatCode>0.000</c:formatCode>
                <c:ptCount val="6"/>
                <c:pt idx="0">
                  <c:v>1.0999999999999999E-2</c:v>
                </c:pt>
                <c:pt idx="1">
                  <c:v>2.5999999999999999E-2</c:v>
                </c:pt>
                <c:pt idx="2">
                  <c:v>4.3999999999999997E-2</c:v>
                </c:pt>
                <c:pt idx="3">
                  <c:v>3.3000000000000002E-2</c:v>
                </c:pt>
                <c:pt idx="4">
                  <c:v>8.9999999999999993E-3</c:v>
                </c:pt>
                <c:pt idx="5">
                  <c:v>0.01</c:v>
                </c:pt>
              </c:numCache>
              <c:extLst xmlns:c15="http://schemas.microsoft.com/office/drawing/2012/chart"/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9-01FD-49DC-9074-533300CF8809}"/>
            </c:ext>
          </c:extLst>
        </c:ser>
        <c:ser>
          <c:idx val="10"/>
          <c:order val="10"/>
          <c:tx>
            <c:v>exp Alpha=10, Z2=5</c:v>
          </c:tx>
          <c:spPr>
            <a:ln w="19050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  <a:prstDash val="solid"/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  <c:extLst xmlns:c15="http://schemas.microsoft.com/office/drawing/2012/chart"/>
            </c:numRef>
          </c:xVal>
          <c:yVal>
            <c:numRef>
              <c:f>'Alpha_!_omega_!_Z2_!_rj_!'!$D$73:$I$73</c:f>
              <c:numCache>
                <c:formatCode>General</c:formatCode>
                <c:ptCount val="6"/>
                <c:pt idx="0">
                  <c:v>-1.0999999999999999E-2</c:v>
                </c:pt>
                <c:pt idx="1">
                  <c:v>-1.95E-2</c:v>
                </c:pt>
                <c:pt idx="2">
                  <c:v>-2.8500000000000001E-2</c:v>
                </c:pt>
                <c:pt idx="3">
                  <c:v>-1.6E-2</c:v>
                </c:pt>
                <c:pt idx="4">
                  <c:v>-4.4999999999999997E-3</c:v>
                </c:pt>
                <c:pt idx="5">
                  <c:v>9.4999999999999998E-3</c:v>
                </c:pt>
              </c:numCache>
              <c:extLst xmlns:c15="http://schemas.microsoft.com/office/drawing/2012/chart"/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A-01FD-49DC-9074-533300CF8809}"/>
            </c:ext>
          </c:extLst>
        </c:ser>
        <c:ser>
          <c:idx val="11"/>
          <c:order val="11"/>
          <c:tx>
            <c:v>exp Alpha=20, Z2=5</c:v>
          </c:tx>
          <c:spPr>
            <a:ln w="19050" cap="rnd">
              <a:solidFill>
                <a:srgbClr val="C00000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  <a:prstDash val="solid"/>
              </a:ln>
              <a:effectLst/>
            </c:spPr>
          </c:marker>
          <c:xVal>
            <c:numRef>
              <c:f>'Alpha_!_omega_!_Z2_!_rj_!'!$D$62:$I$62</c:f>
              <c:numCache>
                <c:formatCode>General</c:formatCode>
                <c:ptCount val="6"/>
                <c:pt idx="0">
                  <c:v>0.25</c:v>
                </c:pt>
                <c:pt idx="1">
                  <c:v>0.5</c:v>
                </c:pt>
                <c:pt idx="2">
                  <c:v>0.75</c:v>
                </c:pt>
                <c:pt idx="3">
                  <c:v>1</c:v>
                </c:pt>
                <c:pt idx="4">
                  <c:v>1.25</c:v>
                </c:pt>
                <c:pt idx="5">
                  <c:v>1.5</c:v>
                </c:pt>
              </c:numCache>
              <c:extLst xmlns:c15="http://schemas.microsoft.com/office/drawing/2012/chart"/>
            </c:numRef>
          </c:xVal>
          <c:yVal>
            <c:numRef>
              <c:f>'Alpha_!_omega_!_Z2_!_rj_!'!$D$74:$I$74</c:f>
              <c:numCache>
                <c:formatCode>0.0000</c:formatCode>
                <c:ptCount val="6"/>
                <c:pt idx="0">
                  <c:v>-1.4E-2</c:v>
                </c:pt>
                <c:pt idx="1">
                  <c:v>-2.8000000000000001E-2</c:v>
                </c:pt>
                <c:pt idx="2">
                  <c:v>-4.2000000000000003E-2</c:v>
                </c:pt>
                <c:pt idx="3">
                  <c:v>-4.4999999999999998E-2</c:v>
                </c:pt>
                <c:pt idx="4">
                  <c:v>-5.6500000000000002E-2</c:v>
                </c:pt>
                <c:pt idx="5">
                  <c:v>-5.9499999999999997E-2</c:v>
                </c:pt>
              </c:numCache>
              <c:extLst xmlns:c15="http://schemas.microsoft.com/office/drawing/2012/chart"/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B-01FD-49DC-9074-533300CF8809}"/>
            </c:ext>
          </c:extLst>
        </c:ser>
        <c:ser>
          <c:idx val="12"/>
          <c:order val="12"/>
          <c:tx>
            <c:v>0</c:v>
          </c:tx>
          <c:spPr>
            <a:ln w="63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'Alpha_!_omega_!_Z2_!_rj_!'!$C$76:$M$76</c:f>
              <c:numCache>
                <c:formatCode>General</c:formatCode>
                <c:ptCount val="1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1.65</c:v>
                </c:pt>
                <c:pt idx="8">
                  <c:v>1.75</c:v>
                </c:pt>
                <c:pt idx="9">
                  <c:v>2</c:v>
                </c:pt>
                <c:pt idx="10">
                  <c:v>2.2999999999999998</c:v>
                </c:pt>
              </c:numCache>
            </c:numRef>
          </c:xVal>
          <c:yVal>
            <c:numRef>
              <c:f>'Alpha_!_omega_!_Z2_!_rj_!'!$C$75:$M$75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01FD-49DC-9074-533300CF88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2255999"/>
        <c:axId val="152502128"/>
        <c:extLst/>
      </c:scatterChart>
      <c:valAx>
        <c:axId val="2032255999"/>
        <c:scaling>
          <c:orientation val="minMax"/>
          <c:max val="1.6"/>
          <c:min val="0.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r>
                  <a:rPr lang="en-US" sz="1200" dirty="0"/>
                  <a:t>Inlet pressure [bar]</a:t>
                </a:r>
              </a:p>
            </c:rich>
          </c:tx>
          <c:layout>
            <c:manualLayout>
              <c:xMode val="edge"/>
              <c:yMode val="edge"/>
              <c:x val="0.31251876305958648"/>
              <c:y val="0.9382263689565623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Georgia" panose="02040502050405020303" pitchFamily="18" charset="0"/>
                  <a:ea typeface="+mn-ea"/>
                  <a:cs typeface="+mn-cs"/>
                </a:defRPr>
              </a:pPr>
              <a:endParaRPr lang="en-D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da-DK"/>
          </a:p>
        </c:txPr>
        <c:crossAx val="152502128"/>
        <c:crosses val="autoZero"/>
        <c:crossBetween val="midCat"/>
      </c:valAx>
      <c:valAx>
        <c:axId val="152502128"/>
        <c:scaling>
          <c:orientation val="minMax"/>
          <c:max val="0.05"/>
          <c:min val="-0.0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Georgia" panose="02040502050405020303" pitchFamily="18" charset="0"/>
                    <a:ea typeface="+mn-ea"/>
                    <a:cs typeface="+mn-cs"/>
                  </a:defRPr>
                </a:pPr>
                <a:r>
                  <a:rPr lang="en-US" sz="1200" dirty="0"/>
                  <a:t>MN Pressure [bar]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Georgia" panose="02040502050405020303" pitchFamily="18" charset="0"/>
                  <a:ea typeface="+mn-ea"/>
                  <a:cs typeface="+mn-cs"/>
                </a:defRPr>
              </a:pPr>
              <a:endParaRPr lang="en-D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da-DK"/>
          </a:p>
        </c:txPr>
        <c:crossAx val="203225599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egendEntry>
        <c:idx val="12"/>
        <c:delete val="1"/>
      </c:legendEntry>
      <c:layout>
        <c:manualLayout>
          <c:xMode val="edge"/>
          <c:yMode val="edge"/>
          <c:x val="0.7631539580868455"/>
          <c:y val="0.19508578711283514"/>
          <c:w val="0.23038001078880682"/>
          <c:h val="0.766231388908354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da-D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ysClr val="windowText" lastClr="000000"/>
          </a:solidFill>
          <a:latin typeface="Georgia" panose="02040502050405020303" pitchFamily="18" charset="0"/>
        </a:defRPr>
      </a:pPr>
      <a:endParaRPr lang="da-D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D59D-CAE2-3AB2-7532-993AC340D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863A1-B314-4B88-9313-39B146BA3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D64AE-C664-A41E-380A-AF9769D6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AB633-C0FA-A1B3-F1AF-62FF5256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E816E-3AD3-B7E8-421C-7CC20EB8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614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2DB4-173F-67A0-21A9-D584B33D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58D4C-C511-37D3-C78D-DB5A0E5C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5C049-83B4-5063-9977-568567A1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71EA7-5D09-B564-1244-D76A778D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1D4F7-4041-FDFE-236E-18FB78E2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6229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6AEE-3369-9A1B-7F73-BA0DACB27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2A839-CC4D-0189-305C-CE4BAB819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6285E-A768-1C45-F2F2-1095D1E5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2E6BB-272E-E309-1EB8-C8275A40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4DA0F-FA26-3239-2583-7FEF6EE6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2609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DBB-0B07-0375-5D0D-B55BE821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CDBB9-6F26-F183-2724-43F07BD3D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BFC1A-03DF-F1C3-28A6-9DF891E05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50AAC-D593-F8BD-9FB9-C259CBD25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DD532-7B80-01D1-D12C-0F25A763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B0480-1D25-1D2D-7454-408CB226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957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6EFAE-51EA-6D7D-A915-607246677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6BC9B-B26A-CBE3-812E-B88202530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E7DB1-D501-DBA5-ADB5-619B4851B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94A36-81DC-2A11-9D78-B9B7E062E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EA10C-4CFA-C58B-28AC-28061F5752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61A34-6229-7A68-9F77-E75EA1E7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C9220-1867-366B-77D3-951CBACC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51112-CEF9-D1B6-3A86-763089A5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23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2E176-5DA1-FC3A-8075-A4D6398B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3B00C-68AB-615D-EFF1-634A77DA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A4903-792C-2529-DD85-F66D9F73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77906-FE58-6E83-6DCA-FDF2FB520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3200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F116F-00EC-D10C-EA6C-B2A0209B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2399B-F506-8B56-1DD6-101955C78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9A018-6FBA-C83D-63C4-7741EACC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9701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FD79-9564-8BAC-56A9-752551977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3015E-35E6-7728-45EF-5089585DD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A9B64-5C18-FC12-3322-7B2234CF0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4C001-E8FE-D503-8794-336C4265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5C82F-059E-0CD6-F028-FDCFCDF3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BC95B-0BB6-5BDE-EBDA-F07933D8A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241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D2F1-475E-9CA9-CE4C-CAEF8914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51123-F9EE-B5AF-2A3D-D83D41023C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6EABB-5B6E-A1DF-DACD-DAB38DD73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3FA60-4DB3-8380-FBA2-C15DA36BC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68AC2-7AC8-8B7B-81AF-E75BC5DFD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A93A9-BE27-26A4-B022-8457C7A4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1793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E8DD-687C-1E40-3801-AF7EA19CA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93B93-3A2A-CAE4-F0CD-9FD2317DC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7D74F-D4C9-1F4B-45EB-CABF4797F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29CE5-A06B-213D-1483-0B4F9449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4EAEB-DBD4-66E0-E741-B61F84C2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927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BB1ABE-857B-00E0-8417-3DAAB5595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0FCDD-816B-AB8C-669F-06F50A09C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ACD9F-0A62-A1DA-0D2F-B1A09155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04A5F-438A-6C1B-9358-3434988D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ED242-5243-1A87-A015-A805AA95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659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E4D21E-50C7-2267-9D86-FC837258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4A08-BD09-54D6-CC4F-42E4173B9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C9015-C0DC-B7EE-F8B7-2DAC6C7C9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F12A2-A45C-4C73-A3AF-07FD579691A8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1E521-5A07-E473-3F0E-0E2F4160A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5029D-B520-BAD3-E2DD-870242D6A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80F57-0C64-4519-A5F3-EAA8BEF0F05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449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9E727673-63FD-1D54-1846-E653E826990F}"/>
              </a:ext>
            </a:extLst>
          </p:cNvPr>
          <p:cNvSpPr/>
          <p:nvPr/>
        </p:nvSpPr>
        <p:spPr>
          <a:xfrm>
            <a:off x="9471037" y="2304789"/>
            <a:ext cx="1319284" cy="895985"/>
          </a:xfrm>
          <a:prstGeom prst="rect">
            <a:avLst/>
          </a:prstGeom>
          <a:solidFill>
            <a:schemeClr val="accent3">
              <a:lumMod val="60000"/>
              <a:lumOff val="40000"/>
              <a:alpha val="50196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1166C-0D7D-D870-8F70-4B33872EE911}"/>
              </a:ext>
            </a:extLst>
          </p:cNvPr>
          <p:cNvSpPr/>
          <p:nvPr/>
        </p:nvSpPr>
        <p:spPr>
          <a:xfrm>
            <a:off x="6337722" y="2156617"/>
            <a:ext cx="1393512" cy="480060"/>
          </a:xfrm>
          <a:prstGeom prst="rect">
            <a:avLst/>
          </a:prstGeom>
          <a:solidFill>
            <a:srgbClr val="D9D9D9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11EBF-5A61-3F64-CF10-16850B762BE7}"/>
              </a:ext>
            </a:extLst>
          </p:cNvPr>
          <p:cNvSpPr/>
          <p:nvPr/>
        </p:nvSpPr>
        <p:spPr>
          <a:xfrm>
            <a:off x="4796581" y="1464721"/>
            <a:ext cx="1336358" cy="12801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A77482-8737-F410-E999-E0D127494255}"/>
              </a:ext>
            </a:extLst>
          </p:cNvPr>
          <p:cNvSpPr/>
          <p:nvPr/>
        </p:nvSpPr>
        <p:spPr>
          <a:xfrm>
            <a:off x="6395069" y="1464721"/>
            <a:ext cx="1336165" cy="128016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9AB1F-3885-5737-BDB5-BEB7D03A069E}"/>
              </a:ext>
            </a:extLst>
          </p:cNvPr>
          <p:cNvSpPr/>
          <p:nvPr/>
        </p:nvSpPr>
        <p:spPr>
          <a:xfrm>
            <a:off x="6199615" y="1464721"/>
            <a:ext cx="128588" cy="219456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1D68A-7EB2-AB44-D83E-CB27B8CA2C5B}"/>
              </a:ext>
            </a:extLst>
          </p:cNvPr>
          <p:cNvSpPr/>
          <p:nvPr/>
        </p:nvSpPr>
        <p:spPr>
          <a:xfrm>
            <a:off x="5595730" y="1336705"/>
            <a:ext cx="1336358" cy="1280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57A971-6736-24E2-B566-334D22C4A394}"/>
              </a:ext>
            </a:extLst>
          </p:cNvPr>
          <p:cNvCxnSpPr>
            <a:cxnSpLocks/>
          </p:cNvCxnSpPr>
          <p:nvPr/>
        </p:nvCxnSpPr>
        <p:spPr>
          <a:xfrm flipH="1">
            <a:off x="6403164" y="2388265"/>
            <a:ext cx="28855" cy="248412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FAB7884-ACCB-A8A6-ED32-BE09A5038217}"/>
              </a:ext>
            </a:extLst>
          </p:cNvPr>
          <p:cNvSpPr/>
          <p:nvPr/>
        </p:nvSpPr>
        <p:spPr>
          <a:xfrm>
            <a:off x="6366303" y="3392073"/>
            <a:ext cx="1364931" cy="480060"/>
          </a:xfrm>
          <a:custGeom>
            <a:avLst/>
            <a:gdLst>
              <a:gd name="csX0" fmla="*/ 128584 w 2492692"/>
              <a:gd name="csY0" fmla="*/ 0 h 480060"/>
              <a:gd name="csX1" fmla="*/ 2492692 w 2492692"/>
              <a:gd name="csY1" fmla="*/ 0 h 480060"/>
              <a:gd name="csX2" fmla="*/ 2492692 w 2492692"/>
              <a:gd name="csY2" fmla="*/ 480060 h 480060"/>
              <a:gd name="csX3" fmla="*/ 0 w 2492692"/>
              <a:gd name="csY3" fmla="*/ 480060 h 480060"/>
              <a:gd name="csX4" fmla="*/ 0 w 2492692"/>
              <a:gd name="csY4" fmla="*/ 480051 h 480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92692" h="480060">
                <a:moveTo>
                  <a:pt x="128584" y="0"/>
                </a:moveTo>
                <a:lnTo>
                  <a:pt x="2492692" y="0"/>
                </a:lnTo>
                <a:lnTo>
                  <a:pt x="2492692" y="480060"/>
                </a:lnTo>
                <a:lnTo>
                  <a:pt x="0" y="480060"/>
                </a:lnTo>
                <a:lnTo>
                  <a:pt x="0" y="480051"/>
                </a:lnTo>
                <a:close/>
              </a:path>
            </a:pathLst>
          </a:custGeom>
          <a:solidFill>
            <a:srgbClr val="D9D9D9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283D16-DFCF-DE74-9469-F95F4699475A}"/>
              </a:ext>
            </a:extLst>
          </p:cNvPr>
          <p:cNvCxnSpPr>
            <a:cxnSpLocks/>
          </p:cNvCxnSpPr>
          <p:nvPr/>
        </p:nvCxnSpPr>
        <p:spPr>
          <a:xfrm flipH="1">
            <a:off x="6432019" y="3623721"/>
            <a:ext cx="99060" cy="248412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A9266E7-7884-FFA2-EE01-85B952388E60}"/>
              </a:ext>
            </a:extLst>
          </p:cNvPr>
          <p:cNvSpPr/>
          <p:nvPr/>
        </p:nvSpPr>
        <p:spPr>
          <a:xfrm>
            <a:off x="6240096" y="1334324"/>
            <a:ext cx="47625" cy="283464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EF10A3-A65D-3133-8373-B908A64CEB45}"/>
              </a:ext>
            </a:extLst>
          </p:cNvPr>
          <p:cNvSpPr txBox="1"/>
          <p:nvPr/>
        </p:nvSpPr>
        <p:spPr>
          <a:xfrm>
            <a:off x="454380" y="1329690"/>
            <a:ext cx="15109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Georgia" panose="02040502050405020303" pitchFamily="18" charset="0"/>
              </a:rPr>
              <a:t>mn</a:t>
            </a:r>
            <a:r>
              <a:rPr lang="en-US" sz="1400" dirty="0">
                <a:latin typeface="Georgia" panose="02040502050405020303" pitchFamily="18" charset="0"/>
              </a:rPr>
              <a:t>: melt nozzle</a:t>
            </a:r>
            <a:endParaRPr lang="da-DK" sz="1400" dirty="0">
              <a:latin typeface="Georgia" panose="02040502050405020303" pitchFamily="18" charset="0"/>
            </a:endParaRPr>
          </a:p>
          <a:p>
            <a:r>
              <a:rPr lang="da-DK" sz="1400" dirty="0">
                <a:latin typeface="Georgia" panose="02040502050405020303" pitchFamily="18" charset="0"/>
              </a:rPr>
              <a:t>α: </a:t>
            </a:r>
            <a:r>
              <a:rPr lang="da-DK" sz="1400" dirty="0" err="1">
                <a:latin typeface="Georgia" panose="02040502050405020303" pitchFamily="18" charset="0"/>
              </a:rPr>
              <a:t>apex</a:t>
            </a:r>
            <a:r>
              <a:rPr lang="da-DK" sz="1400" dirty="0">
                <a:latin typeface="Georgia" panose="02040502050405020303" pitchFamily="18" charset="0"/>
              </a:rPr>
              <a:t> angle</a:t>
            </a:r>
          </a:p>
          <a:p>
            <a:r>
              <a:rPr lang="el-GR" sz="1400" dirty="0">
                <a:latin typeface="Georgia" panose="02040502050405020303" pitchFamily="18" charset="0"/>
              </a:rPr>
              <a:t>ω</a:t>
            </a:r>
            <a:r>
              <a:rPr lang="en-US" sz="1400" dirty="0">
                <a:latin typeface="Georgia" panose="02040502050405020303" pitchFamily="18" charset="0"/>
              </a:rPr>
              <a:t>: swirl angle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98A730-59EF-857F-B511-E2ABBA4D6875}"/>
              </a:ext>
            </a:extLst>
          </p:cNvPr>
          <p:cNvCxnSpPr>
            <a:cxnSpLocks/>
          </p:cNvCxnSpPr>
          <p:nvPr/>
        </p:nvCxnSpPr>
        <p:spPr>
          <a:xfrm flipV="1">
            <a:off x="6263909" y="989487"/>
            <a:ext cx="0" cy="2669794"/>
          </a:xfrm>
          <a:prstGeom prst="straightConnector1">
            <a:avLst/>
          </a:prstGeom>
          <a:ln w="63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E2B581A-C1CC-B59E-C8AC-76F5E8F56F37}"/>
              </a:ext>
            </a:extLst>
          </p:cNvPr>
          <p:cNvCxnSpPr>
            <a:cxnSpLocks/>
          </p:cNvCxnSpPr>
          <p:nvPr/>
        </p:nvCxnSpPr>
        <p:spPr>
          <a:xfrm>
            <a:off x="5491590" y="3659281"/>
            <a:ext cx="2482850" cy="0"/>
          </a:xfrm>
          <a:prstGeom prst="straightConnector1">
            <a:avLst/>
          </a:prstGeom>
          <a:ln w="63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FBC2E67-EF30-C73E-8D29-A23B961A81BB}"/>
              </a:ext>
            </a:extLst>
          </p:cNvPr>
          <p:cNvSpPr txBox="1"/>
          <p:nvPr/>
        </p:nvSpPr>
        <p:spPr>
          <a:xfrm>
            <a:off x="6225808" y="773369"/>
            <a:ext cx="258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Z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93CFF2-FAE7-D0B8-568D-BA86DE9CC6EF}"/>
              </a:ext>
            </a:extLst>
          </p:cNvPr>
          <p:cNvSpPr txBox="1"/>
          <p:nvPr/>
        </p:nvSpPr>
        <p:spPr>
          <a:xfrm>
            <a:off x="7923767" y="3505392"/>
            <a:ext cx="258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DFCEAFA-76D6-8F02-7892-F132550C4D6C}"/>
              </a:ext>
            </a:extLst>
          </p:cNvPr>
          <p:cNvCxnSpPr>
            <a:cxnSpLocks/>
          </p:cNvCxnSpPr>
          <p:nvPr/>
        </p:nvCxnSpPr>
        <p:spPr>
          <a:xfrm flipV="1">
            <a:off x="6403164" y="1961831"/>
            <a:ext cx="78385" cy="67484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Arc 38">
            <a:extLst>
              <a:ext uri="{FF2B5EF4-FFF2-40B4-BE49-F238E27FC236}">
                <a16:creationId xmlns:a16="http://schemas.microsoft.com/office/drawing/2014/main" id="{4CD99B12-B382-3E1A-7EFB-BBA4DEB00801}"/>
              </a:ext>
            </a:extLst>
          </p:cNvPr>
          <p:cNvSpPr/>
          <p:nvPr/>
        </p:nvSpPr>
        <p:spPr>
          <a:xfrm>
            <a:off x="6114555" y="2005741"/>
            <a:ext cx="457200" cy="457200"/>
          </a:xfrm>
          <a:prstGeom prst="arc">
            <a:avLst>
              <a:gd name="adj1" fmla="val 14985669"/>
              <a:gd name="adj2" fmla="val 1825404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E6001F-6BAA-8D0D-9FC2-B638600D4655}"/>
              </a:ext>
            </a:extLst>
          </p:cNvPr>
          <p:cNvCxnSpPr>
            <a:cxnSpLocks/>
          </p:cNvCxnSpPr>
          <p:nvPr/>
        </p:nvCxnSpPr>
        <p:spPr>
          <a:xfrm flipV="1">
            <a:off x="6432018" y="3167537"/>
            <a:ext cx="285122" cy="70459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Arc 42">
            <a:extLst>
              <a:ext uri="{FF2B5EF4-FFF2-40B4-BE49-F238E27FC236}">
                <a16:creationId xmlns:a16="http://schemas.microsoft.com/office/drawing/2014/main" id="{9D71CFD8-4C73-7C23-99DC-6F06F04E62CF}"/>
              </a:ext>
            </a:extLst>
          </p:cNvPr>
          <p:cNvSpPr/>
          <p:nvPr/>
        </p:nvSpPr>
        <p:spPr>
          <a:xfrm>
            <a:off x="5969422" y="3174903"/>
            <a:ext cx="914400" cy="916972"/>
          </a:xfrm>
          <a:prstGeom prst="arc">
            <a:avLst>
              <a:gd name="adj1" fmla="val 14985669"/>
              <a:gd name="adj2" fmla="val 1825404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E25905-A595-75FF-85C7-34CCDE44C728}"/>
              </a:ext>
            </a:extLst>
          </p:cNvPr>
          <p:cNvSpPr txBox="1"/>
          <p:nvPr/>
        </p:nvSpPr>
        <p:spPr>
          <a:xfrm>
            <a:off x="6304863" y="1702501"/>
            <a:ext cx="614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latin typeface="Georgia" panose="02040502050405020303" pitchFamily="18" charset="0"/>
              </a:rPr>
              <a:t>α</a:t>
            </a:r>
            <a:r>
              <a:rPr lang="da-DK" sz="1400" baseline="-25000" dirty="0">
                <a:latin typeface="Georgia" panose="02040502050405020303" pitchFamily="18" charset="0"/>
              </a:rPr>
              <a:t>1</a:t>
            </a:r>
            <a:r>
              <a:rPr lang="da-DK" sz="1400" dirty="0">
                <a:latin typeface="Georgia" panose="02040502050405020303" pitchFamily="18" charset="0"/>
              </a:rPr>
              <a:t>, </a:t>
            </a:r>
            <a:r>
              <a:rPr lang="el-GR" sz="1400" dirty="0">
                <a:latin typeface="Georgia" panose="02040502050405020303" pitchFamily="18" charset="0"/>
              </a:rPr>
              <a:t>ω</a:t>
            </a:r>
            <a:r>
              <a:rPr lang="en-US" sz="1400" baseline="-25000" dirty="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311B30-22F7-259A-1FDE-BCDE5B30E569}"/>
              </a:ext>
            </a:extLst>
          </p:cNvPr>
          <p:cNvSpPr txBox="1"/>
          <p:nvPr/>
        </p:nvSpPr>
        <p:spPr>
          <a:xfrm>
            <a:off x="6304863" y="2892998"/>
            <a:ext cx="746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latin typeface="Georgia" panose="02040502050405020303" pitchFamily="18" charset="0"/>
              </a:rPr>
              <a:t>α</a:t>
            </a:r>
            <a:r>
              <a:rPr lang="da-DK" sz="1400" baseline="-25000" dirty="0">
                <a:latin typeface="Georgia" panose="02040502050405020303" pitchFamily="18" charset="0"/>
              </a:rPr>
              <a:t>2</a:t>
            </a:r>
            <a:r>
              <a:rPr lang="da-DK" sz="1400" dirty="0">
                <a:latin typeface="Georgia" panose="02040502050405020303" pitchFamily="18" charset="0"/>
              </a:rPr>
              <a:t>, </a:t>
            </a:r>
            <a:r>
              <a:rPr lang="el-GR" sz="1400" dirty="0">
                <a:latin typeface="Georgia" panose="02040502050405020303" pitchFamily="18" charset="0"/>
              </a:rPr>
              <a:t>ω</a:t>
            </a:r>
            <a:r>
              <a:rPr lang="en-US" sz="1400" baseline="-25000" dirty="0">
                <a:latin typeface="Georgia" panose="02040502050405020303" pitchFamily="18" charset="0"/>
              </a:rPr>
              <a:t>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E1D235-EF3F-A77E-0250-EEBBF44CB192}"/>
              </a:ext>
            </a:extLst>
          </p:cNvPr>
          <p:cNvCxnSpPr>
            <a:cxnSpLocks/>
          </p:cNvCxnSpPr>
          <p:nvPr/>
        </p:nvCxnSpPr>
        <p:spPr>
          <a:xfrm>
            <a:off x="5595730" y="2636677"/>
            <a:ext cx="0" cy="1022604"/>
          </a:xfrm>
          <a:prstGeom prst="straightConnector1">
            <a:avLst/>
          </a:prstGeom>
          <a:ln w="635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23AC7A9-4786-BBD7-680C-F940892182EB}"/>
              </a:ext>
            </a:extLst>
          </p:cNvPr>
          <p:cNvCxnSpPr>
            <a:cxnSpLocks/>
          </p:cNvCxnSpPr>
          <p:nvPr/>
        </p:nvCxnSpPr>
        <p:spPr>
          <a:xfrm>
            <a:off x="5491590" y="2636677"/>
            <a:ext cx="882915" cy="0"/>
          </a:xfrm>
          <a:prstGeom prst="straightConnector1">
            <a:avLst/>
          </a:prstGeom>
          <a:ln w="6350"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991990D-7918-773C-A583-9DDB9261E53E}"/>
              </a:ext>
            </a:extLst>
          </p:cNvPr>
          <p:cNvCxnSpPr>
            <a:cxnSpLocks/>
          </p:cNvCxnSpPr>
          <p:nvPr/>
        </p:nvCxnSpPr>
        <p:spPr>
          <a:xfrm>
            <a:off x="5593502" y="3659281"/>
            <a:ext cx="0" cy="212852"/>
          </a:xfrm>
          <a:prstGeom prst="straightConnector1">
            <a:avLst/>
          </a:prstGeom>
          <a:ln w="635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5B899A6-4DFC-4AF9-94A8-70824E74411E}"/>
              </a:ext>
            </a:extLst>
          </p:cNvPr>
          <p:cNvCxnSpPr>
            <a:cxnSpLocks/>
          </p:cNvCxnSpPr>
          <p:nvPr/>
        </p:nvCxnSpPr>
        <p:spPr>
          <a:xfrm>
            <a:off x="5491590" y="3872133"/>
            <a:ext cx="882915" cy="0"/>
          </a:xfrm>
          <a:prstGeom prst="straightConnector1">
            <a:avLst/>
          </a:prstGeom>
          <a:ln w="6350"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11D6C46-0BA7-8533-B066-8279A60214D7}"/>
              </a:ext>
            </a:extLst>
          </p:cNvPr>
          <p:cNvSpPr txBox="1"/>
          <p:nvPr/>
        </p:nvSpPr>
        <p:spPr>
          <a:xfrm>
            <a:off x="5311376" y="2955427"/>
            <a:ext cx="356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z</a:t>
            </a:r>
            <a:r>
              <a:rPr lang="en-US" sz="1400" baseline="-25000" dirty="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4C8F12-3DBA-1E41-E08E-55AEF30E2B1D}"/>
              </a:ext>
            </a:extLst>
          </p:cNvPr>
          <p:cNvSpPr txBox="1"/>
          <p:nvPr/>
        </p:nvSpPr>
        <p:spPr>
          <a:xfrm>
            <a:off x="5227430" y="3564356"/>
            <a:ext cx="402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-z</a:t>
            </a:r>
            <a:r>
              <a:rPr lang="en-US" sz="1400" baseline="-25000" dirty="0"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5308BE-4FFA-16FA-89D1-D12CD8738C93}"/>
              </a:ext>
            </a:extLst>
          </p:cNvPr>
          <p:cNvSpPr txBox="1"/>
          <p:nvPr/>
        </p:nvSpPr>
        <p:spPr>
          <a:xfrm>
            <a:off x="454378" y="2320167"/>
            <a:ext cx="3528745" cy="260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Parameter list:</a:t>
            </a:r>
          </a:p>
          <a:p>
            <a:endParaRPr lang="da-DK" sz="1400" dirty="0">
              <a:latin typeface="Georgia" panose="02040502050405020303" pitchFamily="18" charset="0"/>
            </a:endParaRPr>
          </a:p>
          <a:p>
            <a:r>
              <a:rPr lang="da-DK" sz="1400" dirty="0" err="1">
                <a:latin typeface="Georgia" panose="02040502050405020303" pitchFamily="18" charset="0"/>
              </a:rPr>
              <a:t>Pressure</a:t>
            </a:r>
            <a:r>
              <a:rPr lang="da-DK" sz="1400" dirty="0">
                <a:latin typeface="Georgia" panose="02040502050405020303" pitchFamily="18" charset="0"/>
              </a:rPr>
              <a:t>? : </a:t>
            </a:r>
            <a:r>
              <a:rPr lang="da-DK" sz="1400" dirty="0">
                <a:solidFill>
                  <a:srgbClr val="0070C0"/>
                </a:solidFill>
                <a:latin typeface="Georgia" panose="02040502050405020303" pitchFamily="18" charset="0"/>
              </a:rPr>
              <a:t>P</a:t>
            </a:r>
            <a:r>
              <a:rPr lang="da-DK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1</a:t>
            </a:r>
            <a:r>
              <a:rPr lang="da-DK" sz="1400" dirty="0">
                <a:latin typeface="Georgia" panose="02040502050405020303" pitchFamily="18" charset="0"/>
              </a:rPr>
              <a:t>, </a:t>
            </a:r>
            <a:r>
              <a:rPr lang="da-DK" sz="1400" dirty="0">
                <a:solidFill>
                  <a:srgbClr val="0070C0"/>
                </a:solidFill>
                <a:latin typeface="Georgia" panose="02040502050405020303" pitchFamily="18" charset="0"/>
              </a:rPr>
              <a:t>P</a:t>
            </a:r>
            <a:r>
              <a:rPr lang="da-DK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2</a:t>
            </a:r>
          </a:p>
          <a:p>
            <a:r>
              <a:rPr lang="da-DK" sz="1400" dirty="0" err="1">
                <a:latin typeface="Georgia" panose="02040502050405020303" pitchFamily="18" charset="0"/>
              </a:rPr>
              <a:t>Apex</a:t>
            </a:r>
            <a:r>
              <a:rPr lang="da-DK" sz="1400" dirty="0">
                <a:latin typeface="Georgia" panose="02040502050405020303" pitchFamily="18" charset="0"/>
              </a:rPr>
              <a:t> angles: </a:t>
            </a:r>
            <a:r>
              <a:rPr lang="da-DK" sz="1400" dirty="0">
                <a:solidFill>
                  <a:srgbClr val="0070C0"/>
                </a:solidFill>
                <a:latin typeface="Georgia" panose="02040502050405020303" pitchFamily="18" charset="0"/>
              </a:rPr>
              <a:t>α</a:t>
            </a:r>
            <a:r>
              <a:rPr lang="da-DK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1</a:t>
            </a:r>
            <a:r>
              <a:rPr lang="da-DK" sz="1400" baseline="-25000" dirty="0">
                <a:latin typeface="Georgia" panose="02040502050405020303" pitchFamily="18" charset="0"/>
              </a:rPr>
              <a:t>, </a:t>
            </a:r>
            <a:r>
              <a:rPr lang="da-DK" sz="1400" dirty="0">
                <a:solidFill>
                  <a:srgbClr val="0070C0"/>
                </a:solidFill>
                <a:latin typeface="Georgia" panose="02040502050405020303" pitchFamily="18" charset="0"/>
              </a:rPr>
              <a:t>α</a:t>
            </a:r>
            <a:r>
              <a:rPr lang="da-DK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2</a:t>
            </a:r>
            <a:endParaRPr lang="da-DK" sz="1400" dirty="0">
              <a:solidFill>
                <a:srgbClr val="0070C0"/>
              </a:solidFill>
              <a:latin typeface="Georgia" panose="02040502050405020303" pitchFamily="18" charset="0"/>
            </a:endParaRPr>
          </a:p>
          <a:p>
            <a:r>
              <a:rPr lang="da-DK" sz="1400" dirty="0" err="1">
                <a:latin typeface="Georgia" panose="02040502050405020303" pitchFamily="18" charset="0"/>
              </a:rPr>
              <a:t>Swirl</a:t>
            </a:r>
            <a:r>
              <a:rPr lang="da-DK" sz="1400" dirty="0">
                <a:latin typeface="Georgia" panose="02040502050405020303" pitchFamily="18" charset="0"/>
              </a:rPr>
              <a:t> angles: </a:t>
            </a:r>
            <a:r>
              <a:rPr lang="el-GR" sz="1400" dirty="0">
                <a:solidFill>
                  <a:srgbClr val="0070C0"/>
                </a:solidFill>
                <a:latin typeface="Georgia" panose="02040502050405020303" pitchFamily="18" charset="0"/>
              </a:rPr>
              <a:t>ω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1</a:t>
            </a:r>
            <a:r>
              <a:rPr lang="en-US" sz="1400" baseline="-25000" dirty="0">
                <a:latin typeface="Georgia" panose="02040502050405020303" pitchFamily="18" charset="0"/>
              </a:rPr>
              <a:t>, </a:t>
            </a:r>
            <a:r>
              <a:rPr lang="el-GR" sz="1400" dirty="0">
                <a:solidFill>
                  <a:srgbClr val="0070C0"/>
                </a:solidFill>
                <a:latin typeface="Georgia" panose="02040502050405020303" pitchFamily="18" charset="0"/>
              </a:rPr>
              <a:t>ω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2</a:t>
            </a:r>
          </a:p>
          <a:p>
            <a:r>
              <a:rPr lang="en-US" sz="1400" dirty="0">
                <a:latin typeface="Georgia" panose="02040502050405020303" pitchFamily="18" charset="0"/>
              </a:rPr>
              <a:t>Nozzles height: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Z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1</a:t>
            </a:r>
            <a:r>
              <a:rPr lang="en-US" sz="1400" dirty="0">
                <a:latin typeface="Georgia" panose="02040502050405020303" pitchFamily="18" charset="0"/>
              </a:rPr>
              <a:t>,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Z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2</a:t>
            </a:r>
          </a:p>
          <a:p>
            <a:endParaRPr lang="en-US" sz="1400" baseline="-25000" dirty="0">
              <a:latin typeface="Georgia" panose="02040502050405020303" pitchFamily="18" charset="0"/>
            </a:endParaRPr>
          </a:p>
          <a:p>
            <a:r>
              <a:rPr lang="en-US" sz="1400" dirty="0">
                <a:latin typeface="Georgia" panose="02040502050405020303" pitchFamily="18" charset="0"/>
              </a:rPr>
              <a:t>Jet diameter: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ØJ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1</a:t>
            </a:r>
            <a:r>
              <a:rPr lang="en-US" sz="1400" dirty="0">
                <a:latin typeface="Georgia" panose="02040502050405020303" pitchFamily="18" charset="0"/>
              </a:rPr>
              <a:t> and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R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in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J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1</a:t>
            </a:r>
            <a:r>
              <a:rPr lang="en-US" sz="1400" dirty="0">
                <a:latin typeface="Georgia" panose="02040502050405020303" pitchFamily="18" charset="0"/>
              </a:rPr>
              <a:t>,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ØJ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2</a:t>
            </a:r>
            <a:r>
              <a:rPr lang="en-US" sz="1400" dirty="0">
                <a:latin typeface="Georgia" panose="02040502050405020303" pitchFamily="18" charset="0"/>
              </a:rPr>
              <a:t> and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R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in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J</a:t>
            </a:r>
            <a:r>
              <a:rPr lang="en-US" sz="1400" baseline="-25000" dirty="0">
                <a:solidFill>
                  <a:srgbClr val="0070C0"/>
                </a:solidFill>
                <a:latin typeface="Georgia" panose="02040502050405020303" pitchFamily="18" charset="0"/>
              </a:rPr>
              <a:t>2</a:t>
            </a:r>
            <a:endParaRPr lang="en-US" sz="1400" dirty="0">
              <a:solidFill>
                <a:srgbClr val="0070C0"/>
              </a:solidFill>
              <a:latin typeface="Georgia" panose="02040502050405020303" pitchFamily="18" charset="0"/>
            </a:endParaRPr>
          </a:p>
          <a:p>
            <a:r>
              <a:rPr lang="en-US" sz="1400" dirty="0">
                <a:latin typeface="Georgia" panose="02040502050405020303" pitchFamily="18" charset="0"/>
              </a:rPr>
              <a:t>Jet type: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discrete jets</a:t>
            </a:r>
            <a:r>
              <a:rPr lang="en-US" sz="1400" dirty="0">
                <a:latin typeface="Georgia" panose="02040502050405020303" pitchFamily="18" charset="0"/>
              </a:rPr>
              <a:t>,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annular slit</a:t>
            </a:r>
          </a:p>
          <a:p>
            <a:r>
              <a:rPr lang="en-US" sz="1400" dirty="0">
                <a:latin typeface="Georgia" panose="02040502050405020303" pitchFamily="18" charset="0"/>
              </a:rPr>
              <a:t>Jet </a:t>
            </a:r>
            <a:r>
              <a:rPr lang="en-US" sz="1400" dirty="0" err="1">
                <a:latin typeface="Georgia" panose="02040502050405020303" pitchFamily="18" charset="0"/>
              </a:rPr>
              <a:t>geom</a:t>
            </a:r>
            <a:r>
              <a:rPr lang="en-US" sz="1400" dirty="0">
                <a:latin typeface="Georgia" panose="02040502050405020303" pitchFamily="18" charset="0"/>
              </a:rPr>
              <a:t>: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regular</a:t>
            </a:r>
            <a:r>
              <a:rPr lang="en-US" sz="1400" dirty="0">
                <a:latin typeface="Georgia" panose="02040502050405020303" pitchFamily="18" charset="0"/>
              </a:rPr>
              <a:t>, </a:t>
            </a:r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Laval</a:t>
            </a:r>
          </a:p>
          <a:p>
            <a:endParaRPr lang="en-US" sz="1400" dirty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75B391-B39E-7E73-F8FE-169AF1C446B4}"/>
              </a:ext>
            </a:extLst>
          </p:cNvPr>
          <p:cNvSpPr txBox="1"/>
          <p:nvPr/>
        </p:nvSpPr>
        <p:spPr>
          <a:xfrm>
            <a:off x="7087384" y="3084907"/>
            <a:ext cx="838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Stage 2</a:t>
            </a:r>
            <a:endParaRPr lang="en-US" sz="1400" baseline="-25000" dirty="0">
              <a:latin typeface="Georgia" panose="02040502050405020303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67DB9D-2704-11B4-1AD4-9726C0FDCFDF}"/>
              </a:ext>
            </a:extLst>
          </p:cNvPr>
          <p:cNvSpPr txBox="1"/>
          <p:nvPr/>
        </p:nvSpPr>
        <p:spPr>
          <a:xfrm>
            <a:off x="7087383" y="1849678"/>
            <a:ext cx="747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Stage 1</a:t>
            </a:r>
            <a:endParaRPr lang="en-US" sz="1400" baseline="-25000" dirty="0">
              <a:latin typeface="Georgia" panose="02040502050405020303" pitchFamily="18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1A52C7B-DF91-E94D-BB62-7F93B0BC4603}"/>
              </a:ext>
            </a:extLst>
          </p:cNvPr>
          <p:cNvSpPr/>
          <p:nvPr/>
        </p:nvSpPr>
        <p:spPr>
          <a:xfrm>
            <a:off x="8928114" y="1882601"/>
            <a:ext cx="523875" cy="155448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A1F8C0C-159D-6ED8-EF54-23A29855C9AA}"/>
              </a:ext>
            </a:extLst>
          </p:cNvPr>
          <p:cNvSpPr/>
          <p:nvPr/>
        </p:nvSpPr>
        <p:spPr>
          <a:xfrm>
            <a:off x="9098611" y="1882600"/>
            <a:ext cx="18288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77EF851B-FA61-93EA-189E-635DDBC0844C}"/>
              </a:ext>
            </a:extLst>
          </p:cNvPr>
          <p:cNvSpPr/>
          <p:nvPr/>
        </p:nvSpPr>
        <p:spPr>
          <a:xfrm>
            <a:off x="9471038" y="2304790"/>
            <a:ext cx="1335006" cy="895985"/>
          </a:xfrm>
          <a:custGeom>
            <a:avLst/>
            <a:gdLst>
              <a:gd name="csX0" fmla="*/ 556954 w 1335006"/>
              <a:gd name="csY0" fmla="*/ 0 h 895985"/>
              <a:gd name="csX1" fmla="*/ 1335006 w 1335006"/>
              <a:gd name="csY1" fmla="*/ 0 h 895985"/>
              <a:gd name="csX2" fmla="*/ 1335006 w 1335006"/>
              <a:gd name="csY2" fmla="*/ 895985 h 895985"/>
              <a:gd name="csX3" fmla="*/ 427157 w 1335006"/>
              <a:gd name="csY3" fmla="*/ 895985 h 895985"/>
              <a:gd name="csX4" fmla="*/ 0 w 1335006"/>
              <a:gd name="csY4" fmla="*/ 0 h 895985"/>
              <a:gd name="csX5" fmla="*/ 295745 w 1335006"/>
              <a:gd name="csY5" fmla="*/ 0 h 895985"/>
              <a:gd name="csX6" fmla="*/ 165947 w 1335006"/>
              <a:gd name="csY6" fmla="*/ 895985 h 895985"/>
              <a:gd name="csX7" fmla="*/ 0 w 1335006"/>
              <a:gd name="csY7" fmla="*/ 895985 h 8959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35006" h="895985">
                <a:moveTo>
                  <a:pt x="556954" y="0"/>
                </a:moveTo>
                <a:lnTo>
                  <a:pt x="1335006" y="0"/>
                </a:lnTo>
                <a:lnTo>
                  <a:pt x="1335006" y="895985"/>
                </a:lnTo>
                <a:lnTo>
                  <a:pt x="427157" y="895985"/>
                </a:lnTo>
                <a:close/>
                <a:moveTo>
                  <a:pt x="0" y="0"/>
                </a:moveTo>
                <a:lnTo>
                  <a:pt x="295745" y="0"/>
                </a:lnTo>
                <a:lnTo>
                  <a:pt x="165947" y="895985"/>
                </a:lnTo>
                <a:lnTo>
                  <a:pt x="0" y="895985"/>
                </a:lnTo>
                <a:close/>
              </a:path>
            </a:pathLst>
          </a:custGeom>
          <a:solidFill>
            <a:srgbClr val="D9D9D9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a-DK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7E3B9DE-9079-A099-38E5-C5B772B5A5CA}"/>
              </a:ext>
            </a:extLst>
          </p:cNvPr>
          <p:cNvCxnSpPr>
            <a:cxnSpLocks/>
          </p:cNvCxnSpPr>
          <p:nvPr/>
        </p:nvCxnSpPr>
        <p:spPr>
          <a:xfrm flipV="1">
            <a:off x="9763985" y="2045461"/>
            <a:ext cx="39725" cy="274220"/>
          </a:xfrm>
          <a:prstGeom prst="straightConnector1">
            <a:avLst/>
          </a:prstGeom>
          <a:ln w="6350"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4047E81-6EBA-F9AB-6E50-364F4A41FA28}"/>
              </a:ext>
            </a:extLst>
          </p:cNvPr>
          <p:cNvCxnSpPr>
            <a:cxnSpLocks/>
          </p:cNvCxnSpPr>
          <p:nvPr/>
        </p:nvCxnSpPr>
        <p:spPr>
          <a:xfrm flipV="1">
            <a:off x="10024203" y="2095485"/>
            <a:ext cx="30988" cy="213909"/>
          </a:xfrm>
          <a:prstGeom prst="straightConnector1">
            <a:avLst/>
          </a:prstGeom>
          <a:ln w="6350"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5D84A89D-EEEF-BFE8-5D32-95FCBBB9092A}"/>
              </a:ext>
            </a:extLst>
          </p:cNvPr>
          <p:cNvCxnSpPr>
            <a:cxnSpLocks/>
          </p:cNvCxnSpPr>
          <p:nvPr/>
        </p:nvCxnSpPr>
        <p:spPr>
          <a:xfrm>
            <a:off x="9798948" y="2100247"/>
            <a:ext cx="251481" cy="37856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BA0BDDE-4492-FAB5-39EF-EE58FA872715}"/>
              </a:ext>
            </a:extLst>
          </p:cNvPr>
          <p:cNvCxnSpPr>
            <a:cxnSpLocks/>
            <a:endCxn id="74" idx="0"/>
          </p:cNvCxnSpPr>
          <p:nvPr/>
        </p:nvCxnSpPr>
        <p:spPr>
          <a:xfrm flipV="1">
            <a:off x="9190051" y="1882600"/>
            <a:ext cx="0" cy="1723564"/>
          </a:xfrm>
          <a:prstGeom prst="straightConnector1">
            <a:avLst/>
          </a:prstGeom>
          <a:ln w="6350"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691EC6A-C32A-FE15-457B-D6D493B4847E}"/>
              </a:ext>
            </a:extLst>
          </p:cNvPr>
          <p:cNvCxnSpPr>
            <a:cxnSpLocks/>
            <a:endCxn id="78" idx="6"/>
          </p:cNvCxnSpPr>
          <p:nvPr/>
        </p:nvCxnSpPr>
        <p:spPr>
          <a:xfrm flipV="1">
            <a:off x="9634233" y="3200775"/>
            <a:ext cx="2752" cy="405389"/>
          </a:xfrm>
          <a:prstGeom prst="straightConnector1">
            <a:avLst/>
          </a:prstGeom>
          <a:ln w="6350">
            <a:prstDash val="das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AD9317F-C470-9D26-24AE-A6254B01C4A3}"/>
              </a:ext>
            </a:extLst>
          </p:cNvPr>
          <p:cNvCxnSpPr>
            <a:cxnSpLocks/>
          </p:cNvCxnSpPr>
          <p:nvPr/>
        </p:nvCxnSpPr>
        <p:spPr>
          <a:xfrm>
            <a:off x="9190051" y="3532152"/>
            <a:ext cx="444182" cy="0"/>
          </a:xfrm>
          <a:prstGeom prst="straightConnector1">
            <a:avLst/>
          </a:prstGeom>
          <a:ln w="63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D091A29-55B4-F7C5-8B0C-8ED511ABFE8F}"/>
              </a:ext>
            </a:extLst>
          </p:cNvPr>
          <p:cNvSpPr txBox="1"/>
          <p:nvPr/>
        </p:nvSpPr>
        <p:spPr>
          <a:xfrm>
            <a:off x="9763985" y="1774910"/>
            <a:ext cx="496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ØJ</a:t>
            </a:r>
            <a:r>
              <a:rPr lang="en-US" sz="1400" baseline="-25000" dirty="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5C56344-F1A1-8CCA-A161-0C984304F066}"/>
              </a:ext>
            </a:extLst>
          </p:cNvPr>
          <p:cNvSpPr txBox="1"/>
          <p:nvPr/>
        </p:nvSpPr>
        <p:spPr>
          <a:xfrm>
            <a:off x="9146692" y="3518314"/>
            <a:ext cx="565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R</a:t>
            </a:r>
            <a:r>
              <a:rPr lang="en-US" sz="1400" baseline="-25000" dirty="0">
                <a:latin typeface="Georgia" panose="02040502050405020303" pitchFamily="18" charset="0"/>
              </a:rPr>
              <a:t>in</a:t>
            </a:r>
            <a:r>
              <a:rPr lang="en-US" sz="1400" dirty="0">
                <a:latin typeface="Georgia" panose="02040502050405020303" pitchFamily="18" charset="0"/>
              </a:rPr>
              <a:t>J</a:t>
            </a:r>
            <a:r>
              <a:rPr lang="en-US" sz="1400" baseline="-25000" dirty="0">
                <a:latin typeface="Georgia" panose="02040502050405020303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5111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61FE73E7-B389-F80C-761E-CDE05655F1B7}"/>
              </a:ext>
            </a:extLst>
          </p:cNvPr>
          <p:cNvGrpSpPr/>
          <p:nvPr/>
        </p:nvGrpSpPr>
        <p:grpSpPr>
          <a:xfrm>
            <a:off x="601701" y="368300"/>
            <a:ext cx="6790715" cy="5768569"/>
            <a:chOff x="652501" y="0"/>
            <a:chExt cx="6790715" cy="576856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0F988480-D5FC-CBEF-0179-B027B4D36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850" b="24800"/>
            <a:stretch>
              <a:fillRect/>
            </a:stretch>
          </p:blipFill>
          <p:spPr>
            <a:xfrm>
              <a:off x="1822542" y="2049611"/>
              <a:ext cx="2557503" cy="1682814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217AFD0-F4AF-8D60-4F03-41B912A12A7E}"/>
                </a:ext>
              </a:extLst>
            </p:cNvPr>
            <p:cNvGrpSpPr/>
            <p:nvPr/>
          </p:nvGrpSpPr>
          <p:grpSpPr>
            <a:xfrm>
              <a:off x="652501" y="0"/>
              <a:ext cx="6790715" cy="5177292"/>
              <a:chOff x="652501" y="0"/>
              <a:chExt cx="10009405" cy="763124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33D917D-D736-7EB7-288F-2EA8748F86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575" y="0"/>
                <a:ext cx="5788612" cy="2534993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9CFBB72-196A-F8D3-4E55-277767BCDD75}"/>
                  </a:ext>
                </a:extLst>
              </p:cNvPr>
              <p:cNvGrpSpPr/>
              <p:nvPr/>
            </p:nvGrpSpPr>
            <p:grpSpPr>
              <a:xfrm flipH="1">
                <a:off x="6601970" y="870552"/>
                <a:ext cx="4059936" cy="2340154"/>
                <a:chOff x="29719" y="1232862"/>
                <a:chExt cx="4060944" cy="2340154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26299C7A-370E-C3C4-64A1-B468C73F1E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4" t="11150" r="-44" b="15350"/>
                <a:stretch>
                  <a:fillRect/>
                </a:stretch>
              </p:blipFill>
              <p:spPr>
                <a:xfrm>
                  <a:off x="1702718" y="1232862"/>
                  <a:ext cx="2387945" cy="2340154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8BFDEE8-EBDC-EEF0-B9C6-883CBAF9D500}"/>
                    </a:ext>
                  </a:extLst>
                </p:cNvPr>
                <p:cNvSpPr txBox="1"/>
                <p:nvPr/>
              </p:nvSpPr>
              <p:spPr>
                <a:xfrm>
                  <a:off x="29719" y="1285404"/>
                  <a:ext cx="1450718" cy="2721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:r>
                    <a:rPr lang="en-US" sz="1200" dirty="0">
                      <a:latin typeface="Georgia" panose="02040502050405020303" pitchFamily="18" charset="0"/>
                    </a:rPr>
                    <a:t>System inlet 1</a:t>
                  </a:r>
                  <a:endParaRPr lang="da-DK" sz="1200" dirty="0">
                    <a:latin typeface="Georgia" panose="02040502050405020303" pitchFamily="18" charset="0"/>
                  </a:endParaRPr>
                </a:p>
              </p:txBody>
            </p: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732518EB-F4D9-659C-5BB1-CD03BDC4908B}"/>
                    </a:ext>
                  </a:extLst>
                </p:cNvPr>
                <p:cNvCxnSpPr/>
                <p:nvPr/>
              </p:nvCxnSpPr>
              <p:spPr bwMode="auto">
                <a:xfrm>
                  <a:off x="1592909" y="1412776"/>
                  <a:ext cx="1261937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6744208-7590-C3C1-24D2-0B342E559F03}"/>
                    </a:ext>
                  </a:extLst>
                </p:cNvPr>
                <p:cNvSpPr txBox="1"/>
                <p:nvPr/>
              </p:nvSpPr>
              <p:spPr>
                <a:xfrm>
                  <a:off x="29722" y="2373913"/>
                  <a:ext cx="1450718" cy="2721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:r>
                    <a:rPr lang="en-US" sz="1200" dirty="0">
                      <a:latin typeface="Georgia" panose="02040502050405020303" pitchFamily="18" charset="0"/>
                    </a:rPr>
                    <a:t>System inlet 1</a:t>
                  </a:r>
                  <a:endParaRPr lang="da-DK" sz="1200" dirty="0">
                    <a:latin typeface="Georgia" panose="02040502050405020303" pitchFamily="18" charset="0"/>
                  </a:endParaRPr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5D142B50-BBA5-90CC-1979-3B6DC07A1575}"/>
                    </a:ext>
                  </a:extLst>
                </p:cNvPr>
                <p:cNvCxnSpPr/>
                <p:nvPr/>
              </p:nvCxnSpPr>
              <p:spPr bwMode="auto">
                <a:xfrm>
                  <a:off x="1592909" y="2501285"/>
                  <a:ext cx="1261937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705F4FF-6A34-7949-AD40-2D751372EDBE}"/>
                  </a:ext>
                </a:extLst>
              </p:cNvPr>
              <p:cNvGrpSpPr/>
              <p:nvPr/>
            </p:nvGrpSpPr>
            <p:grpSpPr>
              <a:xfrm>
                <a:off x="6587911" y="3732143"/>
                <a:ext cx="3877931" cy="2829566"/>
                <a:chOff x="6484991" y="4153710"/>
                <a:chExt cx="3877931" cy="2829566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7E681622-9134-A1B8-D80A-70FA061AAC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84991" y="4153710"/>
                  <a:ext cx="2386584" cy="1789938"/>
                </a:xfrm>
                <a:prstGeom prst="rect">
                  <a:avLst/>
                </a:prstGeom>
              </p:spPr>
            </p:pic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274672-73E5-AE64-3B61-1959A256A9E0}"/>
                    </a:ext>
                  </a:extLst>
                </p:cNvPr>
                <p:cNvSpPr txBox="1"/>
                <p:nvPr/>
              </p:nvSpPr>
              <p:spPr>
                <a:xfrm flipH="1">
                  <a:off x="9187004" y="4992277"/>
                  <a:ext cx="1175918" cy="5443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:r>
                    <a:rPr lang="en-US" sz="1200" dirty="0">
                      <a:latin typeface="Georgia" panose="02040502050405020303" pitchFamily="18" charset="0"/>
                    </a:rPr>
                    <a:t>Pressure transducer</a:t>
                  </a:r>
                  <a:endParaRPr lang="da-DK" sz="1200" dirty="0">
                    <a:latin typeface="Georgia" panose="02040502050405020303" pitchFamily="18" charset="0"/>
                  </a:endParaRP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70707366-4DE3-05F3-672F-2C0E8CCB87C2}"/>
                    </a:ext>
                  </a:extLst>
                </p:cNvPr>
                <p:cNvCxnSpPr/>
                <p:nvPr/>
              </p:nvCxnSpPr>
              <p:spPr bwMode="auto">
                <a:xfrm flipH="1">
                  <a:off x="7230533" y="5259424"/>
                  <a:ext cx="482471" cy="22697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0F5DC8BC-7D2B-A24B-5ACB-8BEFFC1FB540}"/>
                    </a:ext>
                  </a:extLst>
                </p:cNvPr>
                <p:cNvCxnSpPr/>
                <p:nvPr/>
              </p:nvCxnSpPr>
              <p:spPr bwMode="auto">
                <a:xfrm flipH="1">
                  <a:off x="7713004" y="5259424"/>
                  <a:ext cx="1367812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D745FCA3-B364-ED98-B824-3C91B4AABA60}"/>
                    </a:ext>
                  </a:extLst>
                </p:cNvPr>
                <p:cNvSpPr txBox="1"/>
                <p:nvPr/>
              </p:nvSpPr>
              <p:spPr>
                <a:xfrm flipH="1">
                  <a:off x="9187004" y="6438887"/>
                  <a:ext cx="1175918" cy="54438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:r>
                    <a:rPr lang="en-US" sz="1200" dirty="0">
                      <a:latin typeface="Georgia" panose="02040502050405020303" pitchFamily="18" charset="0"/>
                    </a:rPr>
                    <a:t>Festo connector</a:t>
                  </a:r>
                  <a:endParaRPr lang="da-DK" sz="1200" dirty="0">
                    <a:latin typeface="Georgia" panose="02040502050405020303" pitchFamily="18" charset="0"/>
                  </a:endParaRPr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CFFAD0-7C90-DF59-93D5-85C7E58FB22D}"/>
                  </a:ext>
                </a:extLst>
              </p:cNvPr>
              <p:cNvSpPr txBox="1"/>
              <p:nvPr/>
            </p:nvSpPr>
            <p:spPr>
              <a:xfrm flipH="1">
                <a:off x="691382" y="1873103"/>
                <a:ext cx="1508261" cy="2721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1200" dirty="0">
                    <a:latin typeface="Georgia" panose="02040502050405020303" pitchFamily="18" charset="0"/>
                  </a:rPr>
                  <a:t>Nozzle stage 1</a:t>
                </a:r>
                <a:endParaRPr lang="da-DK" sz="12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FC6073-A3B1-477E-9967-B78D214C02F2}"/>
                  </a:ext>
                </a:extLst>
              </p:cNvPr>
              <p:cNvSpPr txBox="1"/>
              <p:nvPr/>
            </p:nvSpPr>
            <p:spPr>
              <a:xfrm flipH="1">
                <a:off x="702031" y="2250947"/>
                <a:ext cx="1508261" cy="2721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1200" dirty="0">
                    <a:latin typeface="Georgia" panose="02040502050405020303" pitchFamily="18" charset="0"/>
                  </a:rPr>
                  <a:t>Nozzle stage 2</a:t>
                </a:r>
                <a:endParaRPr lang="da-DK" sz="1200" dirty="0">
                  <a:latin typeface="Georgia" panose="02040502050405020303" pitchFamily="18" charset="0"/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7F98F27-4D0D-961E-3AFA-4EF0CAE234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275105" y="2411213"/>
                <a:ext cx="670964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A350A050-47F7-8692-6AC2-22EE05A109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275105" y="2040629"/>
                <a:ext cx="670964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8DB6DA3-5DA0-3C0B-FE8B-BCBA9BD06689}"/>
                  </a:ext>
                </a:extLst>
              </p:cNvPr>
              <p:cNvGrpSpPr/>
              <p:nvPr/>
            </p:nvGrpSpPr>
            <p:grpSpPr>
              <a:xfrm>
                <a:off x="652501" y="4493909"/>
                <a:ext cx="3275421" cy="3137336"/>
                <a:chOff x="469728" y="4991628"/>
                <a:chExt cx="3275421" cy="3137336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06CC9CB-21DC-D827-F280-860D33BFFA9B}"/>
                    </a:ext>
                  </a:extLst>
                </p:cNvPr>
                <p:cNvSpPr txBox="1"/>
                <p:nvPr/>
              </p:nvSpPr>
              <p:spPr>
                <a:xfrm flipH="1">
                  <a:off x="478535" y="4991628"/>
                  <a:ext cx="1508262" cy="2721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:r>
                    <a:rPr lang="en-US" sz="1200" dirty="0">
                      <a:latin typeface="Georgia" panose="02040502050405020303" pitchFamily="18" charset="0"/>
                    </a:rPr>
                    <a:t>Nozzle stage 1</a:t>
                  </a:r>
                  <a:endParaRPr lang="da-DK" sz="12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FE65BEA-21E4-B5AD-127E-FC8582E6ED61}"/>
                    </a:ext>
                  </a:extLst>
                </p:cNvPr>
                <p:cNvSpPr txBox="1"/>
                <p:nvPr/>
              </p:nvSpPr>
              <p:spPr>
                <a:xfrm flipH="1">
                  <a:off x="469728" y="5359744"/>
                  <a:ext cx="1508262" cy="2721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:r>
                    <a:rPr lang="en-US" sz="1200" dirty="0">
                      <a:latin typeface="Georgia" panose="02040502050405020303" pitchFamily="18" charset="0"/>
                    </a:rPr>
                    <a:t>Nozzle stage 2</a:t>
                  </a:r>
                  <a:endParaRPr lang="da-DK" sz="1200" dirty="0">
                    <a:latin typeface="Georgia" panose="02040502050405020303" pitchFamily="18" charset="0"/>
                  </a:endParaRPr>
                </a:p>
              </p:txBody>
            </p: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24C9CC01-A1F5-5E6A-E736-C8C7533963D6}"/>
                    </a:ext>
                  </a:extLst>
                </p:cNvPr>
                <p:cNvCxnSpPr/>
                <p:nvPr/>
              </p:nvCxnSpPr>
              <p:spPr bwMode="auto">
                <a:xfrm>
                  <a:off x="2181355" y="5529738"/>
                  <a:ext cx="1563794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bg1"/>
                  </a:solidFill>
                  <a:prstDash val="solid"/>
                  <a:miter lim="800000"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D01F54E3-F853-E291-7285-BA5D4C79B50E}"/>
                    </a:ext>
                  </a:extLst>
                </p:cNvPr>
                <p:cNvCxnSpPr/>
                <p:nvPr/>
              </p:nvCxnSpPr>
              <p:spPr bwMode="auto">
                <a:xfrm>
                  <a:off x="3107930" y="5159154"/>
                  <a:ext cx="637219" cy="20059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bg1"/>
                  </a:solidFill>
                  <a:prstDash val="solid"/>
                  <a:miter lim="800000"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97A0A1E3-61AA-0D3B-AD98-7F1F366ED276}"/>
                    </a:ext>
                  </a:extLst>
                </p:cNvPr>
                <p:cNvCxnSpPr/>
                <p:nvPr/>
              </p:nvCxnSpPr>
              <p:spPr bwMode="auto">
                <a:xfrm>
                  <a:off x="2181355" y="5162133"/>
                  <a:ext cx="936952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bg1"/>
                  </a:solidFill>
                  <a:prstDash val="solid"/>
                  <a:miter lim="800000"/>
                  <a:headEnd type="none" w="med" len="med"/>
                  <a:tailEnd type="non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6C71486-1CAD-17F9-97DD-545EA98E8000}"/>
                    </a:ext>
                  </a:extLst>
                </p:cNvPr>
                <p:cNvCxnSpPr/>
                <p:nvPr/>
              </p:nvCxnSpPr>
              <p:spPr bwMode="auto">
                <a:xfrm>
                  <a:off x="1986796" y="5529738"/>
                  <a:ext cx="19455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BC767A5-89BC-B8E4-69F1-B3566A1FDA79}"/>
                    </a:ext>
                  </a:extLst>
                </p:cNvPr>
                <p:cNvSpPr txBox="1"/>
                <p:nvPr/>
              </p:nvSpPr>
              <p:spPr>
                <a:xfrm flipH="1">
                  <a:off x="496930" y="7156567"/>
                  <a:ext cx="1508262" cy="2721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:r>
                    <a:rPr lang="en-US" sz="1200" dirty="0">
                      <a:latin typeface="Georgia" panose="02040502050405020303" pitchFamily="18" charset="0"/>
                    </a:rPr>
                    <a:t>Nozzle stage 1</a:t>
                  </a:r>
                  <a:endParaRPr lang="da-DK" sz="1200" dirty="0"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F5939EB-B272-C776-E401-53DDF42240B3}"/>
                    </a:ext>
                  </a:extLst>
                </p:cNvPr>
                <p:cNvSpPr txBox="1"/>
                <p:nvPr/>
              </p:nvSpPr>
              <p:spPr>
                <a:xfrm flipH="1">
                  <a:off x="469728" y="7856769"/>
                  <a:ext cx="1508262" cy="27219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432"/>
                    </a:spcBef>
                  </a:pPr>
                  <a:r>
                    <a:rPr lang="en-US" sz="1200" dirty="0">
                      <a:latin typeface="Georgia" panose="02040502050405020303" pitchFamily="18" charset="0"/>
                    </a:rPr>
                    <a:t>Nozzle stage 2</a:t>
                  </a:r>
                  <a:endParaRPr lang="da-DK" sz="1200" dirty="0">
                    <a:latin typeface="Georgia" panose="02040502050405020303" pitchFamily="18" charset="0"/>
                  </a:endParaRPr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7218598-A90A-C4E4-CDD1-54D545165CEE}"/>
                  </a:ext>
                </a:extLst>
              </p:cNvPr>
              <p:cNvSpPr txBox="1"/>
              <p:nvPr/>
            </p:nvSpPr>
            <p:spPr>
              <a:xfrm flipH="1">
                <a:off x="766844" y="6845"/>
                <a:ext cx="1508261" cy="2721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1200" dirty="0">
                    <a:latin typeface="Georgia" panose="02040502050405020303" pitchFamily="18" charset="0"/>
                  </a:rPr>
                  <a:t>System inlet 1</a:t>
                </a:r>
                <a:endParaRPr lang="da-DK" sz="12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4283E74-BD5A-69A0-20A3-A678DE56B330}"/>
                  </a:ext>
                </a:extLst>
              </p:cNvPr>
              <p:cNvSpPr txBox="1"/>
              <p:nvPr/>
            </p:nvSpPr>
            <p:spPr>
              <a:xfrm flipH="1">
                <a:off x="766842" y="892628"/>
                <a:ext cx="1508261" cy="2721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1200" dirty="0">
                    <a:latin typeface="Georgia" panose="02040502050405020303" pitchFamily="18" charset="0"/>
                  </a:rPr>
                  <a:t>System inlet 2</a:t>
                </a:r>
                <a:endParaRPr lang="da-DK" sz="1200" dirty="0">
                  <a:latin typeface="Georgia" panose="02040502050405020303" pitchFamily="18" charset="0"/>
                </a:endParaRP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4D0DEC4D-9C09-AF85-DD54-1BB510F446E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377123" y="1043236"/>
                <a:ext cx="958297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7D0FB22-A271-7CEC-7F47-DB78ECE0A48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381927" y="164800"/>
                <a:ext cx="958297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5E0ABFA1-63CA-D57A-B554-74B9599EC85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167664" y="4665245"/>
                <a:ext cx="194559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0ED030B-145E-E024-4920-612350C3EDBF}"/>
                  </a:ext>
                </a:extLst>
              </p:cNvPr>
              <p:cNvSpPr txBox="1"/>
              <p:nvPr/>
            </p:nvSpPr>
            <p:spPr>
              <a:xfrm flipH="1">
                <a:off x="5806246" y="2280526"/>
                <a:ext cx="356681" cy="2721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432"/>
                  </a:spcBef>
                </a:pPr>
                <a:r>
                  <a:rPr lang="en-US" sz="1200" dirty="0">
                    <a:latin typeface="Georgia" panose="02040502050405020303" pitchFamily="18" charset="0"/>
                  </a:rPr>
                  <a:t>a)</a:t>
                </a:r>
                <a:endParaRPr lang="da-DK" sz="12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8866987-3870-9B16-A007-126E3A687A53}"/>
                  </a:ext>
                </a:extLst>
              </p:cNvPr>
              <p:cNvSpPr txBox="1"/>
              <p:nvPr/>
            </p:nvSpPr>
            <p:spPr>
              <a:xfrm flipH="1">
                <a:off x="8639125" y="2950485"/>
                <a:ext cx="356681" cy="2721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432"/>
                  </a:spcBef>
                </a:pPr>
                <a:r>
                  <a:rPr lang="en-US" sz="1200" dirty="0">
                    <a:latin typeface="Georgia" panose="02040502050405020303" pitchFamily="18" charset="0"/>
                  </a:rPr>
                  <a:t>b)</a:t>
                </a:r>
                <a:endParaRPr lang="da-DK" sz="12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CF18A00-A625-2DE3-5B95-F83BE77DEB96}"/>
                  </a:ext>
                </a:extLst>
              </p:cNvPr>
              <p:cNvSpPr txBox="1"/>
              <p:nvPr/>
            </p:nvSpPr>
            <p:spPr>
              <a:xfrm flipH="1">
                <a:off x="5806246" y="5254440"/>
                <a:ext cx="356681" cy="2721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432"/>
                  </a:spcBef>
                </a:pPr>
                <a:r>
                  <a:rPr lang="en-US" sz="1200" dirty="0">
                    <a:latin typeface="Georgia" panose="02040502050405020303" pitchFamily="18" charset="0"/>
                  </a:rPr>
                  <a:t>c)</a:t>
                </a:r>
                <a:endParaRPr lang="da-DK" sz="1200" dirty="0">
                  <a:latin typeface="Georgia" panose="02040502050405020303" pitchFamily="18" charset="0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9669E7A-C1A3-E7BA-E7D0-D4CE789F0BD6}"/>
                  </a:ext>
                </a:extLst>
              </p:cNvPr>
              <p:cNvSpPr txBox="1"/>
              <p:nvPr/>
            </p:nvSpPr>
            <p:spPr>
              <a:xfrm flipH="1">
                <a:off x="8682945" y="5252546"/>
                <a:ext cx="356681" cy="2721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432"/>
                  </a:spcBef>
                </a:pPr>
                <a:r>
                  <a:rPr lang="en-US" sz="1200" dirty="0">
                    <a:latin typeface="Georgia" panose="02040502050405020303" pitchFamily="18" charset="0"/>
                  </a:rPr>
                  <a:t>d)</a:t>
                </a:r>
                <a:endParaRPr lang="da-DK" sz="1200" dirty="0">
                  <a:latin typeface="Georgia" panose="02040502050405020303" pitchFamily="18" charset="0"/>
                </a:endParaRPr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48BCF277-6B2C-75DF-0DFC-56BA3B1C602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617033" y="2150102"/>
                <a:ext cx="895434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D025437-C017-FC39-5FB5-0BCBC552B51F}"/>
                  </a:ext>
                </a:extLst>
              </p:cNvPr>
              <p:cNvSpPr txBox="1"/>
              <p:nvPr/>
            </p:nvSpPr>
            <p:spPr>
              <a:xfrm flipH="1">
                <a:off x="4537932" y="1999135"/>
                <a:ext cx="1200219" cy="2721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:r>
                  <a:rPr lang="en-US" sz="1200" dirty="0">
                    <a:latin typeface="Georgia" panose="02040502050405020303" pitchFamily="18" charset="0"/>
                  </a:rPr>
                  <a:t>Melt nozzle</a:t>
                </a:r>
                <a:endParaRPr lang="da-DK" sz="1200" dirty="0">
                  <a:latin typeface="Georgia" panose="02040502050405020303" pitchFamily="18" charset="0"/>
                </a:endParaRPr>
              </a:p>
            </p:txBody>
          </p: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36D7D90-8B69-EE20-F44D-7956E5EA7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881" b="23457"/>
            <a:stretch>
              <a:fillRect/>
            </a:stretch>
          </p:blipFill>
          <p:spPr>
            <a:xfrm>
              <a:off x="1812434" y="3996945"/>
              <a:ext cx="2571926" cy="1771624"/>
            </a:xfrm>
            <a:prstGeom prst="rect">
              <a:avLst/>
            </a:prstGeom>
            <a:ln w="22225">
              <a:noFill/>
            </a:ln>
          </p:spPr>
        </p:pic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A9C1587-DC14-E40C-09CB-8CABF7061A0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692408" y="5084959"/>
              <a:ext cx="24455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C2BED3A-30AC-EBAE-A54F-88DABABD435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709359" y="4618220"/>
              <a:ext cx="11318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E7F924C-9214-93EF-D141-43DCCE2B64AE}"/>
                </a:ext>
              </a:extLst>
            </p:cNvPr>
            <p:cNvSpPr txBox="1"/>
            <p:nvPr/>
          </p:nvSpPr>
          <p:spPr>
            <a:xfrm flipH="1">
              <a:off x="4148974" y="5583903"/>
              <a:ext cx="2419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200" dirty="0">
                  <a:latin typeface="Georgia" panose="02040502050405020303" pitchFamily="18" charset="0"/>
                </a:rPr>
                <a:t>e)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97083781-2AC2-D023-0FBC-9B0B11E9F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03771" y="4920673"/>
              <a:ext cx="1187972" cy="485121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37459EF-1A17-291F-77EF-3E149A7C0407}"/>
                </a:ext>
              </a:extLst>
            </p:cNvPr>
            <p:cNvSpPr txBox="1"/>
            <p:nvPr/>
          </p:nvSpPr>
          <p:spPr>
            <a:xfrm flipH="1">
              <a:off x="6070894" y="5583903"/>
              <a:ext cx="24198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432"/>
                </a:spcBef>
              </a:pPr>
              <a:r>
                <a:rPr lang="en-US" sz="1200" dirty="0">
                  <a:latin typeface="Georgia" panose="02040502050405020303" pitchFamily="18" charset="0"/>
                </a:rPr>
                <a:t>f)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471E753-4414-CE62-4B2B-62E8B1DE2F9B}"/>
                </a:ext>
              </a:extLst>
            </p:cNvPr>
            <p:cNvSpPr txBox="1"/>
            <p:nvPr/>
          </p:nvSpPr>
          <p:spPr>
            <a:xfrm flipH="1">
              <a:off x="6512418" y="4978567"/>
              <a:ext cx="79778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en-US" sz="1200" dirty="0">
                  <a:latin typeface="Georgia" panose="02040502050405020303" pitchFamily="18" charset="0"/>
                </a:rPr>
                <a:t>M6 brass insert</a:t>
              </a:r>
              <a:endParaRPr lang="da-DK" sz="1200" dirty="0">
                <a:latin typeface="Georgia" panose="02040502050405020303" pitchFamily="18" charset="0"/>
              </a:endParaRP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E023BB7E-B3D2-8750-A394-97ED8642C09F}"/>
                </a:ext>
              </a:extLst>
            </p:cNvPr>
            <p:cNvCxnSpPr/>
            <p:nvPr/>
          </p:nvCxnSpPr>
          <p:spPr bwMode="auto">
            <a:xfrm flipH="1">
              <a:off x="5219700" y="4257427"/>
              <a:ext cx="283182" cy="13322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4141D37-425F-7227-C104-7E30C1C320CF}"/>
                </a:ext>
              </a:extLst>
            </p:cNvPr>
            <p:cNvCxnSpPr/>
            <p:nvPr/>
          </p:nvCxnSpPr>
          <p:spPr bwMode="auto">
            <a:xfrm flipH="1">
              <a:off x="5502882" y="4257427"/>
              <a:ext cx="92796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570E1B0-2E88-0E11-953A-49DA26263429}"/>
                </a:ext>
              </a:extLst>
            </p:cNvPr>
            <p:cNvCxnSpPr/>
            <p:nvPr/>
          </p:nvCxnSpPr>
          <p:spPr bwMode="auto">
            <a:xfrm flipH="1">
              <a:off x="6246503" y="5163234"/>
              <a:ext cx="19387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BEF863F-569D-1DA3-2E3C-3D26941C2DB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750129" y="4740864"/>
            <a:ext cx="1452203" cy="46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9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2D94D9-25A9-C854-66B8-722D3148F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4" t="28096" r="43027" b="31054"/>
          <a:stretch>
            <a:fillRect/>
          </a:stretch>
        </p:blipFill>
        <p:spPr>
          <a:xfrm rot="5400000">
            <a:off x="716968" y="450416"/>
            <a:ext cx="816504" cy="2020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EE6DD8-9B0C-754A-228F-12B2225B2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59" t="27375" r="40724" b="24887"/>
          <a:stretch>
            <a:fillRect/>
          </a:stretch>
        </p:blipFill>
        <p:spPr>
          <a:xfrm rot="5400000">
            <a:off x="902959" y="-686552"/>
            <a:ext cx="816503" cy="2392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0AD0ED-FC41-75A9-8BFE-C0D1068AC2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99723" y="2419931"/>
            <a:ext cx="3629530" cy="1162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109A2F-CD5A-632F-E07A-3A70D33E64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122" y="3747784"/>
            <a:ext cx="2969132" cy="121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13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44B20FEF-468A-2C03-FC99-D0D9B7818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81" b="23457"/>
          <a:stretch>
            <a:fillRect/>
          </a:stretch>
        </p:blipFill>
        <p:spPr>
          <a:xfrm>
            <a:off x="1089432" y="1501455"/>
            <a:ext cx="3271251" cy="2253341"/>
          </a:xfrm>
          <a:prstGeom prst="rect">
            <a:avLst/>
          </a:prstGeom>
          <a:ln w="22225"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998F41E-ABA2-FCFE-02F4-FD18072E1C54}"/>
              </a:ext>
            </a:extLst>
          </p:cNvPr>
          <p:cNvGrpSpPr/>
          <p:nvPr/>
        </p:nvGrpSpPr>
        <p:grpSpPr>
          <a:xfrm>
            <a:off x="4736541" y="802737"/>
            <a:ext cx="3385696" cy="3197856"/>
            <a:chOff x="4604557" y="222601"/>
            <a:chExt cx="3385696" cy="31978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BDC954-78BA-D0EC-0A2C-BFC9E4C3F06D}"/>
                </a:ext>
              </a:extLst>
            </p:cNvPr>
            <p:cNvSpPr/>
            <p:nvPr/>
          </p:nvSpPr>
          <p:spPr>
            <a:xfrm>
              <a:off x="6145698" y="1485199"/>
              <a:ext cx="1393512" cy="480060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635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559E54-40C0-CA0C-C47F-150B2528D2D6}"/>
                </a:ext>
              </a:extLst>
            </p:cNvPr>
            <p:cNvSpPr/>
            <p:nvPr/>
          </p:nvSpPr>
          <p:spPr>
            <a:xfrm>
              <a:off x="4604557" y="793303"/>
              <a:ext cx="1336358" cy="128016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1E1964-9050-13CC-80FF-B0C4BF97C836}"/>
                </a:ext>
              </a:extLst>
            </p:cNvPr>
            <p:cNvSpPr/>
            <p:nvPr/>
          </p:nvSpPr>
          <p:spPr>
            <a:xfrm>
              <a:off x="6203045" y="793303"/>
              <a:ext cx="1336165" cy="128016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C909635-B75F-7889-0E37-E833F8D64BD2}"/>
                </a:ext>
              </a:extLst>
            </p:cNvPr>
            <p:cNvSpPr/>
            <p:nvPr/>
          </p:nvSpPr>
          <p:spPr>
            <a:xfrm>
              <a:off x="6007591" y="793303"/>
              <a:ext cx="128588" cy="2194560"/>
            </a:xfrm>
            <a:prstGeom prst="rect">
              <a:avLst/>
            </a:prstGeom>
            <a:solidFill>
              <a:srgbClr val="44546A">
                <a:lumMod val="50000"/>
                <a:lumOff val="50000"/>
              </a:srgb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CF2AFAE-1013-DA5B-DE8B-1835268726DB}"/>
                </a:ext>
              </a:extLst>
            </p:cNvPr>
            <p:cNvSpPr/>
            <p:nvPr/>
          </p:nvSpPr>
          <p:spPr>
            <a:xfrm>
              <a:off x="5403706" y="665287"/>
              <a:ext cx="1336358" cy="128016"/>
            </a:xfrm>
            <a:prstGeom prst="rect">
              <a:avLst/>
            </a:prstGeom>
            <a:solidFill>
              <a:srgbClr val="44546A">
                <a:lumMod val="50000"/>
                <a:lumOff val="50000"/>
              </a:srgb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A9C63D2-DF23-35C3-13E4-DC490B3BDC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1140" y="1716847"/>
              <a:ext cx="28855" cy="248412"/>
            </a:xfrm>
            <a:prstGeom prst="line">
              <a:avLst/>
            </a:prstGeom>
            <a:noFill/>
            <a:ln w="38100" cap="flat" cmpd="sng" algn="ctr">
              <a:solidFill>
                <a:srgbClr val="A5A5A5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1AAA7F-F056-652E-CC50-ACDB5E324BEF}"/>
                </a:ext>
              </a:extLst>
            </p:cNvPr>
            <p:cNvSpPr/>
            <p:nvPr/>
          </p:nvSpPr>
          <p:spPr>
            <a:xfrm>
              <a:off x="6174279" y="2720655"/>
              <a:ext cx="1364931" cy="480060"/>
            </a:xfrm>
            <a:custGeom>
              <a:avLst/>
              <a:gdLst>
                <a:gd name="csX0" fmla="*/ 128584 w 2492692"/>
                <a:gd name="csY0" fmla="*/ 0 h 480060"/>
                <a:gd name="csX1" fmla="*/ 2492692 w 2492692"/>
                <a:gd name="csY1" fmla="*/ 0 h 480060"/>
                <a:gd name="csX2" fmla="*/ 2492692 w 2492692"/>
                <a:gd name="csY2" fmla="*/ 480060 h 480060"/>
                <a:gd name="csX3" fmla="*/ 0 w 2492692"/>
                <a:gd name="csY3" fmla="*/ 480060 h 480060"/>
                <a:gd name="csX4" fmla="*/ 0 w 2492692"/>
                <a:gd name="csY4" fmla="*/ 480051 h 480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92692" h="480060">
                  <a:moveTo>
                    <a:pt x="128584" y="0"/>
                  </a:moveTo>
                  <a:lnTo>
                    <a:pt x="2492692" y="0"/>
                  </a:lnTo>
                  <a:lnTo>
                    <a:pt x="2492692" y="480060"/>
                  </a:lnTo>
                  <a:lnTo>
                    <a:pt x="0" y="480060"/>
                  </a:lnTo>
                  <a:lnTo>
                    <a:pt x="0" y="480051"/>
                  </a:lnTo>
                  <a:close/>
                </a:path>
              </a:pathLst>
            </a:custGeom>
            <a:solidFill>
              <a:srgbClr val="D9D9D9">
                <a:alpha val="50196"/>
              </a:srgbClr>
            </a:solidFill>
            <a:ln w="635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2C5B4E-F4E1-ABB2-2981-ED8E72B983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39995" y="2952303"/>
              <a:ext cx="99060" cy="248412"/>
            </a:xfrm>
            <a:prstGeom prst="line">
              <a:avLst/>
            </a:prstGeom>
            <a:noFill/>
            <a:ln w="38100" cap="flat" cmpd="sng" algn="ctr">
              <a:solidFill>
                <a:srgbClr val="A5A5A5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13577F1-7D83-E94C-8EE5-5AB9303C427A}"/>
                </a:ext>
              </a:extLst>
            </p:cNvPr>
            <p:cNvSpPr/>
            <p:nvPr/>
          </p:nvSpPr>
          <p:spPr>
            <a:xfrm>
              <a:off x="6048072" y="662906"/>
              <a:ext cx="47625" cy="2322576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B13B171-835A-6CC7-3E70-7607BB2CE0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1885" y="318069"/>
              <a:ext cx="0" cy="266979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04A617A-6E0B-0220-99EB-B9B0972BF281}"/>
                </a:ext>
              </a:extLst>
            </p:cNvPr>
            <p:cNvCxnSpPr>
              <a:cxnSpLocks/>
            </p:cNvCxnSpPr>
            <p:nvPr/>
          </p:nvCxnSpPr>
          <p:spPr>
            <a:xfrm>
              <a:off x="5299566" y="2987863"/>
              <a:ext cx="248285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miter lim="800000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AB305D5-6733-778F-2ACD-28F85A2B80D8}"/>
                </a:ext>
              </a:extLst>
            </p:cNvPr>
            <p:cNvSpPr txBox="1"/>
            <p:nvPr/>
          </p:nvSpPr>
          <p:spPr>
            <a:xfrm>
              <a:off x="6065534" y="222601"/>
              <a:ext cx="258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Z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84D631-C715-4FDA-BA14-6232A1353CC6}"/>
                </a:ext>
              </a:extLst>
            </p:cNvPr>
            <p:cNvSpPr txBox="1"/>
            <p:nvPr/>
          </p:nvSpPr>
          <p:spPr>
            <a:xfrm>
              <a:off x="7731743" y="2833974"/>
              <a:ext cx="258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R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F8CD57F-0632-A4DD-B1FD-FBA3BB8D69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1140" y="1290413"/>
              <a:ext cx="78385" cy="67484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08C8506A-D7C1-85C3-880A-B3A32E6A3202}"/>
                </a:ext>
              </a:extLst>
            </p:cNvPr>
            <p:cNvSpPr/>
            <p:nvPr/>
          </p:nvSpPr>
          <p:spPr>
            <a:xfrm>
              <a:off x="5922531" y="1334323"/>
              <a:ext cx="457200" cy="457200"/>
            </a:xfrm>
            <a:prstGeom prst="arc">
              <a:avLst>
                <a:gd name="adj1" fmla="val 14985669"/>
                <a:gd name="adj2" fmla="val 18254040"/>
              </a:avLst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E897FE-C049-3234-B37B-F0BA797974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9994" y="2496119"/>
              <a:ext cx="285122" cy="70459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8E0D1253-0FFB-10C4-BA1D-BB0C9DEF8518}"/>
                </a:ext>
              </a:extLst>
            </p:cNvPr>
            <p:cNvSpPr/>
            <p:nvPr/>
          </p:nvSpPr>
          <p:spPr>
            <a:xfrm>
              <a:off x="5777398" y="2503485"/>
              <a:ext cx="914400" cy="916972"/>
            </a:xfrm>
            <a:prstGeom prst="arc">
              <a:avLst>
                <a:gd name="adj1" fmla="val 14985669"/>
                <a:gd name="adj2" fmla="val 18254040"/>
              </a:avLst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E69BB7B-609D-D6D1-2C69-A9C4CC62527C}"/>
                </a:ext>
              </a:extLst>
            </p:cNvPr>
            <p:cNvSpPr txBox="1"/>
            <p:nvPr/>
          </p:nvSpPr>
          <p:spPr>
            <a:xfrm>
              <a:off x="6112839" y="1031083"/>
              <a:ext cx="1054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P</a:t>
              </a:r>
              <a:r>
                <a:rPr kumimoji="0" lang="da-DK" sz="1400" b="0" i="1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1</a:t>
              </a:r>
              <a:r>
                <a:rPr kumimoji="0" lang="da-DK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, α</a:t>
              </a:r>
              <a:r>
                <a:rPr kumimoji="0" lang="da-DK" sz="1400" b="0" i="1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1</a:t>
              </a:r>
              <a:r>
                <a:rPr kumimoji="0" lang="da-DK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, </a:t>
              </a:r>
              <a:r>
                <a:rPr kumimoji="0" lang="el-GR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ω</a:t>
              </a:r>
              <a:r>
                <a:rPr kumimoji="0" lang="en-US" sz="1400" b="0" i="1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2DAF18-6116-A1CE-4C07-4933877E73CB}"/>
                </a:ext>
              </a:extLst>
            </p:cNvPr>
            <p:cNvSpPr txBox="1"/>
            <p:nvPr/>
          </p:nvSpPr>
          <p:spPr>
            <a:xfrm>
              <a:off x="6112839" y="2221580"/>
              <a:ext cx="12471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P</a:t>
              </a:r>
              <a:r>
                <a:rPr kumimoji="0" lang="da-DK" sz="1400" b="0" i="1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2</a:t>
              </a:r>
              <a:r>
                <a:rPr kumimoji="0" lang="da-DK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, α</a:t>
              </a:r>
              <a:r>
                <a:rPr kumimoji="0" lang="da-DK" sz="1400" b="0" i="1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2</a:t>
              </a:r>
              <a:r>
                <a:rPr kumimoji="0" lang="da-DK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, </a:t>
              </a:r>
              <a:r>
                <a:rPr kumimoji="0" lang="el-GR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ω</a:t>
              </a:r>
              <a:r>
                <a:rPr kumimoji="0" lang="en-US" sz="1400" b="0" i="1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2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1F1B76D-EB4C-6AD7-E094-C584665AA843}"/>
                </a:ext>
              </a:extLst>
            </p:cNvPr>
            <p:cNvCxnSpPr>
              <a:cxnSpLocks/>
            </p:cNvCxnSpPr>
            <p:nvPr/>
          </p:nvCxnSpPr>
          <p:spPr>
            <a:xfrm>
              <a:off x="4727448" y="1965259"/>
              <a:ext cx="1455033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miter lim="800000"/>
              <a:tailEnd type="none"/>
            </a:ln>
            <a:effectLst/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51437C0-94CF-C7B2-C140-71319979B7FF}"/>
                </a:ext>
              </a:extLst>
            </p:cNvPr>
            <p:cNvCxnSpPr>
              <a:cxnSpLocks/>
            </p:cNvCxnSpPr>
            <p:nvPr/>
          </p:nvCxnSpPr>
          <p:spPr>
            <a:xfrm>
              <a:off x="5401478" y="2987863"/>
              <a:ext cx="0" cy="212852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26F32CB-3403-71C7-1096-AB47E7056641}"/>
                </a:ext>
              </a:extLst>
            </p:cNvPr>
            <p:cNvCxnSpPr>
              <a:cxnSpLocks/>
            </p:cNvCxnSpPr>
            <p:nvPr/>
          </p:nvCxnSpPr>
          <p:spPr>
            <a:xfrm>
              <a:off x="4727448" y="3200715"/>
              <a:ext cx="1455033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miter lim="800000"/>
              <a:tailEnd type="none"/>
            </a:ln>
            <a:effectLst/>
          </p:spPr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2F2174E-A530-5439-5B7C-BCD6CC15335A}"/>
                </a:ext>
              </a:extLst>
            </p:cNvPr>
            <p:cNvSpPr txBox="1"/>
            <p:nvPr/>
          </p:nvSpPr>
          <p:spPr>
            <a:xfrm>
              <a:off x="5035406" y="2892938"/>
              <a:ext cx="4025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-z</a:t>
              </a:r>
              <a:endParaRPr kumimoji="0" lang="en-US" sz="1400" b="0" i="1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269C76-92F8-CA1F-4601-E9C9448BBF69}"/>
                </a:ext>
              </a:extLst>
            </p:cNvPr>
            <p:cNvSpPr txBox="1"/>
            <p:nvPr/>
          </p:nvSpPr>
          <p:spPr>
            <a:xfrm>
              <a:off x="6858784" y="2678665"/>
              <a:ext cx="8387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Stage 2</a:t>
              </a:r>
              <a:endParaRPr kumimoji="0" lang="en-US" sz="1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229CECF-71EC-9DAD-F85D-22D521B0CB55}"/>
                </a:ext>
              </a:extLst>
            </p:cNvPr>
            <p:cNvSpPr txBox="1"/>
            <p:nvPr/>
          </p:nvSpPr>
          <p:spPr>
            <a:xfrm>
              <a:off x="6858783" y="1443436"/>
              <a:ext cx="7474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Stage 1</a:t>
              </a:r>
              <a:endParaRPr kumimoji="0" lang="en-US" sz="1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138287B-F2FD-13FD-03CB-1A5190D23340}"/>
                </a:ext>
              </a:extLst>
            </p:cNvPr>
            <p:cNvCxnSpPr>
              <a:cxnSpLocks/>
            </p:cNvCxnSpPr>
            <p:nvPr/>
          </p:nvCxnSpPr>
          <p:spPr>
            <a:xfrm>
              <a:off x="4960773" y="1965259"/>
              <a:ext cx="0" cy="1235456"/>
            </a:xfrm>
            <a:prstGeom prst="straightConnector1">
              <a:avLst/>
            </a:prstGeom>
            <a:noFill/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CEEBA34-80FA-434F-F5EA-B777C7A918FC}"/>
                </a:ext>
              </a:extLst>
            </p:cNvPr>
            <p:cNvSpPr txBox="1"/>
            <p:nvPr/>
          </p:nvSpPr>
          <p:spPr>
            <a:xfrm>
              <a:off x="4722886" y="2432205"/>
              <a:ext cx="2873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d</a:t>
              </a:r>
              <a:endParaRPr kumimoji="0" lang="en-US" sz="1400" b="0" i="1" u="none" strike="noStrike" kern="0" cap="none" spc="0" normalizeH="0" baseline="-25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B12FB3C-B794-F3F5-E6E6-760DF1F635E5}"/>
                </a:ext>
              </a:extLst>
            </p:cNvPr>
            <p:cNvSpPr txBox="1"/>
            <p:nvPr/>
          </p:nvSpPr>
          <p:spPr>
            <a:xfrm>
              <a:off x="6740064" y="313787"/>
              <a:ext cx="10947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</a:rPr>
                <a:t>Melt nozzle</a:t>
              </a:r>
              <a:endParaRPr kumimoji="0" lang="en-US" sz="1400" b="0" i="0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EB10413-8AF7-54B6-B9A0-D91EAC11DCAE}"/>
              </a:ext>
            </a:extLst>
          </p:cNvPr>
          <p:cNvGrpSpPr/>
          <p:nvPr/>
        </p:nvGrpSpPr>
        <p:grpSpPr>
          <a:xfrm>
            <a:off x="8339865" y="1723259"/>
            <a:ext cx="1877930" cy="2051181"/>
            <a:chOff x="10061120" y="3910090"/>
            <a:chExt cx="1877930" cy="205118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EA9D173-C64B-E04B-624A-D4C9B7CA960A}"/>
                </a:ext>
              </a:extLst>
            </p:cNvPr>
            <p:cNvSpPr/>
            <p:nvPr/>
          </p:nvSpPr>
          <p:spPr>
            <a:xfrm>
              <a:off x="10604043" y="4439969"/>
              <a:ext cx="1319284" cy="895985"/>
            </a:xfrm>
            <a:prstGeom prst="rect">
              <a:avLst/>
            </a:prstGeom>
            <a:solidFill>
              <a:srgbClr val="A5A5A5">
                <a:lumMod val="60000"/>
                <a:lumOff val="40000"/>
                <a:alpha val="50196"/>
              </a:srgbClr>
            </a:solidFill>
            <a:ln w="635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3D929E4-725A-6917-C294-4F8D4BC5029F}"/>
                </a:ext>
              </a:extLst>
            </p:cNvPr>
            <p:cNvSpPr/>
            <p:nvPr/>
          </p:nvSpPr>
          <p:spPr>
            <a:xfrm>
              <a:off x="10061120" y="4017781"/>
              <a:ext cx="523875" cy="1554480"/>
            </a:xfrm>
            <a:prstGeom prst="rect">
              <a:avLst/>
            </a:prstGeom>
            <a:solidFill>
              <a:srgbClr val="44546A">
                <a:lumMod val="50000"/>
                <a:lumOff val="50000"/>
              </a:srgbClr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7024A91-09DB-100F-86D7-0912F809E72F}"/>
                </a:ext>
              </a:extLst>
            </p:cNvPr>
            <p:cNvSpPr/>
            <p:nvPr/>
          </p:nvSpPr>
          <p:spPr>
            <a:xfrm>
              <a:off x="10231617" y="4017780"/>
              <a:ext cx="182880" cy="1554480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856A4FC-A452-CB73-19AC-AE8270940677}"/>
                </a:ext>
              </a:extLst>
            </p:cNvPr>
            <p:cNvSpPr/>
            <p:nvPr/>
          </p:nvSpPr>
          <p:spPr>
            <a:xfrm>
              <a:off x="10604044" y="4439970"/>
              <a:ext cx="1335006" cy="895985"/>
            </a:xfrm>
            <a:custGeom>
              <a:avLst/>
              <a:gdLst>
                <a:gd name="csX0" fmla="*/ 556954 w 1335006"/>
                <a:gd name="csY0" fmla="*/ 0 h 895985"/>
                <a:gd name="csX1" fmla="*/ 1335006 w 1335006"/>
                <a:gd name="csY1" fmla="*/ 0 h 895985"/>
                <a:gd name="csX2" fmla="*/ 1335006 w 1335006"/>
                <a:gd name="csY2" fmla="*/ 895985 h 895985"/>
                <a:gd name="csX3" fmla="*/ 427157 w 1335006"/>
                <a:gd name="csY3" fmla="*/ 895985 h 895985"/>
                <a:gd name="csX4" fmla="*/ 0 w 1335006"/>
                <a:gd name="csY4" fmla="*/ 0 h 895985"/>
                <a:gd name="csX5" fmla="*/ 295745 w 1335006"/>
                <a:gd name="csY5" fmla="*/ 0 h 895985"/>
                <a:gd name="csX6" fmla="*/ 165947 w 1335006"/>
                <a:gd name="csY6" fmla="*/ 895985 h 895985"/>
                <a:gd name="csX7" fmla="*/ 0 w 1335006"/>
                <a:gd name="csY7" fmla="*/ 895985 h 895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35006" h="895985">
                  <a:moveTo>
                    <a:pt x="556954" y="0"/>
                  </a:moveTo>
                  <a:lnTo>
                    <a:pt x="1335006" y="0"/>
                  </a:lnTo>
                  <a:lnTo>
                    <a:pt x="1335006" y="895985"/>
                  </a:lnTo>
                  <a:lnTo>
                    <a:pt x="427157" y="895985"/>
                  </a:lnTo>
                  <a:close/>
                  <a:moveTo>
                    <a:pt x="0" y="0"/>
                  </a:moveTo>
                  <a:lnTo>
                    <a:pt x="295745" y="0"/>
                  </a:lnTo>
                  <a:lnTo>
                    <a:pt x="165947" y="895985"/>
                  </a:lnTo>
                  <a:lnTo>
                    <a:pt x="0" y="895985"/>
                  </a:lnTo>
                  <a:close/>
                </a:path>
              </a:pathLst>
            </a:custGeom>
            <a:solidFill>
              <a:srgbClr val="D9D9D9"/>
            </a:solidFill>
            <a:ln w="635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a-DK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F84AB18-A5E5-B6C4-3CB4-00F5F68CBD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6991" y="4180641"/>
              <a:ext cx="39725" cy="27422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miter lim="800000"/>
              <a:tailEnd type="none"/>
            </a:ln>
            <a:effectLst/>
          </p:spPr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6E3E4D3-7D17-46B6-84B3-A4BFEF5A61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57209" y="4230665"/>
              <a:ext cx="30988" cy="213909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miter lim="800000"/>
              <a:tailEnd type="none"/>
            </a:ln>
            <a:effectLst/>
          </p:spPr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563937C-CCD9-3E15-C6C4-D476630E8FAC}"/>
                </a:ext>
              </a:extLst>
            </p:cNvPr>
            <p:cNvCxnSpPr>
              <a:cxnSpLocks/>
            </p:cNvCxnSpPr>
            <p:nvPr/>
          </p:nvCxnSpPr>
          <p:spPr>
            <a:xfrm>
              <a:off x="10931954" y="4235427"/>
              <a:ext cx="251481" cy="37856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E992A97-2736-1DB3-29AD-BE391DAE7E98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 flipV="1">
              <a:off x="10323057" y="4017780"/>
              <a:ext cx="0" cy="1723564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miter lim="800000"/>
              <a:tailEnd type="none"/>
            </a:ln>
            <a:effectLst/>
          </p:spPr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EEA7F7A-6F9A-3AA3-DB74-F3AFEC8D774E}"/>
                </a:ext>
              </a:extLst>
            </p:cNvPr>
            <p:cNvCxnSpPr>
              <a:cxnSpLocks/>
              <a:endCxn id="38" idx="6"/>
            </p:cNvCxnSpPr>
            <p:nvPr/>
          </p:nvCxnSpPr>
          <p:spPr>
            <a:xfrm flipV="1">
              <a:off x="10767239" y="5335955"/>
              <a:ext cx="2752" cy="405389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"/>
              <a:miter lim="800000"/>
              <a:tailEnd type="none"/>
            </a:ln>
            <a:effectLst/>
          </p:spPr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573FBFE-6A4E-FE95-EF28-57317BE7FC42}"/>
                </a:ext>
              </a:extLst>
            </p:cNvPr>
            <p:cNvCxnSpPr>
              <a:cxnSpLocks/>
            </p:cNvCxnSpPr>
            <p:nvPr/>
          </p:nvCxnSpPr>
          <p:spPr>
            <a:xfrm>
              <a:off x="10323057" y="5667332"/>
              <a:ext cx="444182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headEnd type="triangle"/>
              <a:tailEnd type="triangle"/>
            </a:ln>
            <a:effectLst/>
          </p:spPr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3124389-641F-B22C-D383-19BA6930DDF0}"/>
                </a:ext>
              </a:extLst>
            </p:cNvPr>
            <p:cNvSpPr txBox="1"/>
            <p:nvPr/>
          </p:nvSpPr>
          <p:spPr>
            <a:xfrm>
              <a:off x="10896991" y="3910090"/>
              <a:ext cx="4963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i="1" dirty="0">
                  <a:solidFill>
                    <a:prstClr val="black"/>
                  </a:solidFill>
                  <a:latin typeface="Georgia" panose="02040502050405020303" pitchFamily="18" charset="0"/>
                  <a:ea typeface="+mn-ea"/>
                </a:rPr>
                <a:t>ØJ</a:t>
              </a:r>
              <a:r>
                <a:rPr lang="en-US" sz="1400" i="1" baseline="-25000" dirty="0">
                  <a:solidFill>
                    <a:prstClr val="black"/>
                  </a:solidFill>
                  <a:latin typeface="Georgia" panose="02040502050405020303" pitchFamily="18" charset="0"/>
                  <a:ea typeface="+mn-ea"/>
                </a:rPr>
                <a:t>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56DC583-55D4-95EF-30F6-F8302538E4F8}"/>
                </a:ext>
              </a:extLst>
            </p:cNvPr>
            <p:cNvSpPr txBox="1"/>
            <p:nvPr/>
          </p:nvSpPr>
          <p:spPr>
            <a:xfrm>
              <a:off x="10279698" y="5653494"/>
              <a:ext cx="5652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i="1">
                  <a:solidFill>
                    <a:prstClr val="black"/>
                  </a:solidFill>
                  <a:latin typeface="Georgia" panose="02040502050405020303" pitchFamily="18" charset="0"/>
                  <a:ea typeface="+mn-ea"/>
                </a:rPr>
                <a:t>R</a:t>
              </a:r>
              <a:r>
                <a:rPr lang="en-US" sz="1400" i="1" baseline="-25000">
                  <a:solidFill>
                    <a:prstClr val="black"/>
                  </a:solidFill>
                  <a:latin typeface="Georgia" panose="02040502050405020303" pitchFamily="18" charset="0"/>
                  <a:ea typeface="+mn-ea"/>
                </a:rPr>
                <a:t>in</a:t>
              </a:r>
              <a:r>
                <a:rPr lang="en-US" sz="1400" i="1">
                  <a:solidFill>
                    <a:prstClr val="black"/>
                  </a:solidFill>
                  <a:latin typeface="Georgia" panose="02040502050405020303" pitchFamily="18" charset="0"/>
                  <a:ea typeface="+mn-ea"/>
                </a:rPr>
                <a:t>J</a:t>
              </a:r>
              <a:r>
                <a:rPr lang="en-US" sz="1400" i="1" baseline="-25000">
                  <a:solidFill>
                    <a:prstClr val="black"/>
                  </a:solidFill>
                  <a:latin typeface="Georgia" panose="02040502050405020303" pitchFamily="18" charset="0"/>
                  <a:ea typeface="+mn-ea"/>
                </a:rPr>
                <a:t>1</a:t>
              </a:r>
            </a:p>
          </p:txBody>
        </p:sp>
      </p:grp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512E703-30CA-31C0-091F-9AD01E2450CF}"/>
              </a:ext>
            </a:extLst>
          </p:cNvPr>
          <p:cNvSpPr/>
          <p:nvPr/>
        </p:nvSpPr>
        <p:spPr>
          <a:xfrm>
            <a:off x="8217768" y="1733721"/>
            <a:ext cx="1995187" cy="2047130"/>
          </a:xfrm>
          <a:prstGeom prst="roundRect">
            <a:avLst>
              <a:gd name="adj" fmla="val 7883"/>
            </a:avLst>
          </a:prstGeom>
          <a:solidFill>
            <a:schemeClr val="accent4">
              <a:lumMod val="20000"/>
              <a:lumOff val="80000"/>
              <a:alpha val="2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5F54BD2-E209-F5AE-0774-069EA741721F}"/>
              </a:ext>
            </a:extLst>
          </p:cNvPr>
          <p:cNvSpPr/>
          <p:nvPr/>
        </p:nvSpPr>
        <p:spPr>
          <a:xfrm>
            <a:off x="6087418" y="1985833"/>
            <a:ext cx="433815" cy="602831"/>
          </a:xfrm>
          <a:prstGeom prst="roundRect">
            <a:avLst>
              <a:gd name="adj" fmla="val 7883"/>
            </a:avLst>
          </a:prstGeom>
          <a:solidFill>
            <a:schemeClr val="accent4">
              <a:lumMod val="20000"/>
              <a:lumOff val="80000"/>
              <a:alpha val="2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56D52EB7-C9A7-99FB-259E-881923466DD3}"/>
              </a:ext>
            </a:extLst>
          </p:cNvPr>
          <p:cNvCxnSpPr>
            <a:cxnSpLocks/>
            <a:stCxn id="58" idx="2"/>
            <a:endCxn id="57" idx="1"/>
          </p:cNvCxnSpPr>
          <p:nvPr/>
        </p:nvCxnSpPr>
        <p:spPr>
          <a:xfrm rot="16200000" flipH="1">
            <a:off x="7176736" y="1716254"/>
            <a:ext cx="168622" cy="1913442"/>
          </a:xfrm>
          <a:prstGeom prst="curvedConnector2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280C6D7-92C3-13C2-17E2-388E0EF18CC3}"/>
              </a:ext>
            </a:extLst>
          </p:cNvPr>
          <p:cNvCxnSpPr/>
          <p:nvPr/>
        </p:nvCxnSpPr>
        <p:spPr>
          <a:xfrm flipH="1">
            <a:off x="6471039" y="1046096"/>
            <a:ext cx="201936" cy="19694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C49EF78-8ECF-A250-3C2A-F17E8919AB8A}"/>
              </a:ext>
            </a:extLst>
          </p:cNvPr>
          <p:cNvCxnSpPr>
            <a:cxnSpLocks/>
          </p:cNvCxnSpPr>
          <p:nvPr/>
        </p:nvCxnSpPr>
        <p:spPr>
          <a:xfrm flipH="1" flipV="1">
            <a:off x="6665487" y="1048566"/>
            <a:ext cx="269649" cy="1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47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DF72B44-5253-568A-1C6E-B4D8965F87AC}"/>
              </a:ext>
            </a:extLst>
          </p:cNvPr>
          <p:cNvGraphicFramePr>
            <a:graphicFrameLocks/>
          </p:cNvGraphicFramePr>
          <p:nvPr/>
        </p:nvGraphicFramePr>
        <p:xfrm>
          <a:off x="0" y="3271976"/>
          <a:ext cx="3686783" cy="2286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D438222B-F332-8EC9-19E0-A04133B68609}"/>
              </a:ext>
            </a:extLst>
          </p:cNvPr>
          <p:cNvGraphicFramePr>
            <a:graphicFrameLocks/>
          </p:cNvGraphicFramePr>
          <p:nvPr/>
        </p:nvGraphicFramePr>
        <p:xfrm>
          <a:off x="3609942" y="3287170"/>
          <a:ext cx="4265987" cy="2270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26E38F9-8754-14D1-06C7-E2B12889EF61}"/>
              </a:ext>
            </a:extLst>
          </p:cNvPr>
          <p:cNvGraphicFramePr>
            <a:graphicFrameLocks/>
          </p:cNvGraphicFramePr>
          <p:nvPr/>
        </p:nvGraphicFramePr>
        <p:xfrm>
          <a:off x="7762814" y="3345662"/>
          <a:ext cx="4316589" cy="2212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58077B9-C2E3-1094-855A-E6FCBDF8E353}"/>
              </a:ext>
            </a:extLst>
          </p:cNvPr>
          <p:cNvSpPr txBox="1"/>
          <p:nvPr/>
        </p:nvSpPr>
        <p:spPr>
          <a:xfrm>
            <a:off x="451907" y="2750859"/>
            <a:ext cx="31580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da-DK" sz="1400" dirty="0">
                <a:solidFill>
                  <a:srgbClr val="000000"/>
                </a:solidFill>
                <a:latin typeface="Georgia" panose="02040502050405020303" pitchFamily="18" charset="0"/>
                <a:ea typeface="ＭＳ Ｐゴシック" pitchFamily="-80" charset="-128"/>
              </a:rPr>
              <a:t>Alpha1 = 3, Alpha 2 =14 , omega = 0,</a:t>
            </a:r>
          </a:p>
          <a:p>
            <a:pPr algn="ctr">
              <a:defRPr sz="1400" b="0" i="0" u="none" strike="noStrike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  <a:ea typeface="ＭＳ Ｐゴシック" pitchFamily="-80" charset="-128"/>
              </a:rPr>
              <a:t>P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2A9CD0-E43A-B96F-F94F-04627E5A6ECE}"/>
              </a:ext>
            </a:extLst>
          </p:cNvPr>
          <p:cNvSpPr txBox="1"/>
          <p:nvPr/>
        </p:nvSpPr>
        <p:spPr>
          <a:xfrm>
            <a:off x="8492045" y="2805659"/>
            <a:ext cx="3344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  <a:ea typeface="ＭＳ Ｐゴシック" pitchFamily="-80" charset="-128"/>
              </a:rPr>
              <a:t>Alpha1 = 0, Alpha2 = 14, omega1 = 45, omega2= -45, P =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20BE56-DCE1-1601-A0D6-F641E7E2229D}"/>
              </a:ext>
            </a:extLst>
          </p:cNvPr>
          <p:cNvSpPr txBox="1"/>
          <p:nvPr/>
        </p:nvSpPr>
        <p:spPr>
          <a:xfrm>
            <a:off x="4286939" y="2765175"/>
            <a:ext cx="3344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  <a:ea typeface="ＭＳ Ｐゴシック" pitchFamily="-80" charset="-128"/>
              </a:rPr>
              <a:t>Alpha1 = 0, Alpha2 = 14, omega1 = 45, omega2= 0, P =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1DD510-3CE9-FDDE-5781-4253C7B4FBD1}"/>
              </a:ext>
            </a:extLst>
          </p:cNvPr>
          <p:cNvSpPr txBox="1"/>
          <p:nvPr/>
        </p:nvSpPr>
        <p:spPr>
          <a:xfrm flipH="1">
            <a:off x="5658265" y="5453860"/>
            <a:ext cx="356681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432"/>
              </a:spcBef>
            </a:pPr>
            <a:r>
              <a:rPr lang="en-US" dirty="0">
                <a:latin typeface="Georgia" panose="02040502050405020303" pitchFamily="18" charset="0"/>
              </a:rPr>
              <a:t>b)</a:t>
            </a:r>
            <a:endParaRPr lang="da-DK" dirty="0">
              <a:latin typeface="Georgia" panose="0204050205040502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A09317-A1C6-6808-E14D-3CCA4170A24B}"/>
              </a:ext>
            </a:extLst>
          </p:cNvPr>
          <p:cNvSpPr txBox="1"/>
          <p:nvPr/>
        </p:nvSpPr>
        <p:spPr>
          <a:xfrm flipH="1">
            <a:off x="1767913" y="5453859"/>
            <a:ext cx="356681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432"/>
              </a:spcBef>
            </a:pPr>
            <a:r>
              <a:rPr lang="en-US" dirty="0">
                <a:latin typeface="Georgia" panose="02040502050405020303" pitchFamily="18" charset="0"/>
              </a:rPr>
              <a:t>a)</a:t>
            </a:r>
            <a:endParaRPr lang="da-DK" dirty="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14BBD3-F536-0A27-3B24-4D69325820AA}"/>
              </a:ext>
            </a:extLst>
          </p:cNvPr>
          <p:cNvSpPr txBox="1"/>
          <p:nvPr/>
        </p:nvSpPr>
        <p:spPr>
          <a:xfrm flipH="1">
            <a:off x="9912636" y="5453858"/>
            <a:ext cx="356681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432"/>
              </a:spcBef>
            </a:pPr>
            <a:r>
              <a:rPr lang="en-US" dirty="0">
                <a:latin typeface="Georgia" panose="02040502050405020303" pitchFamily="18" charset="0"/>
              </a:rPr>
              <a:t>c)</a:t>
            </a:r>
            <a:endParaRPr lang="da-DK" dirty="0">
              <a:latin typeface="Georgia" panose="020405020504050203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47E044-56C3-F482-0C32-64DE2D515F97}"/>
              </a:ext>
            </a:extLst>
          </p:cNvPr>
          <p:cNvSpPr txBox="1"/>
          <p:nvPr/>
        </p:nvSpPr>
        <p:spPr>
          <a:xfrm>
            <a:off x="804987" y="4994200"/>
            <a:ext cx="805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=-10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4E8887-5108-F06F-8583-B5D63F803265}"/>
              </a:ext>
            </a:extLst>
          </p:cNvPr>
          <p:cNvSpPr txBox="1"/>
          <p:nvPr/>
        </p:nvSpPr>
        <p:spPr>
          <a:xfrm>
            <a:off x="2667409" y="4994200"/>
            <a:ext cx="805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=+10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63CDD2-62F3-8667-CE5D-AD43F6B918DC}"/>
              </a:ext>
            </a:extLst>
          </p:cNvPr>
          <p:cNvSpPr txBox="1"/>
          <p:nvPr/>
        </p:nvSpPr>
        <p:spPr>
          <a:xfrm>
            <a:off x="1832435" y="4994200"/>
            <a:ext cx="6714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1614E5-09FA-1999-B2C4-759108978620}"/>
              </a:ext>
            </a:extLst>
          </p:cNvPr>
          <p:cNvSpPr txBox="1"/>
          <p:nvPr/>
        </p:nvSpPr>
        <p:spPr>
          <a:xfrm>
            <a:off x="4359205" y="4984501"/>
            <a:ext cx="805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=-10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9B9B60-4BD0-0E49-AF8D-4BC4AB33EF49}"/>
              </a:ext>
            </a:extLst>
          </p:cNvPr>
          <p:cNvSpPr txBox="1"/>
          <p:nvPr/>
        </p:nvSpPr>
        <p:spPr>
          <a:xfrm>
            <a:off x="6114552" y="4984501"/>
            <a:ext cx="752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=+5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6762E0-5D54-BA2B-4791-14A376C21511}"/>
              </a:ext>
            </a:extLst>
          </p:cNvPr>
          <p:cNvSpPr txBox="1"/>
          <p:nvPr/>
        </p:nvSpPr>
        <p:spPr>
          <a:xfrm>
            <a:off x="5287593" y="4984501"/>
            <a:ext cx="6714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A6D870-31D1-3987-EDE3-46254B513F34}"/>
              </a:ext>
            </a:extLst>
          </p:cNvPr>
          <p:cNvSpPr txBox="1"/>
          <p:nvPr/>
        </p:nvSpPr>
        <p:spPr>
          <a:xfrm>
            <a:off x="6932215" y="4984501"/>
            <a:ext cx="805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=+10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8D4F31-0877-17BA-B63E-531507616FB5}"/>
              </a:ext>
            </a:extLst>
          </p:cNvPr>
          <p:cNvSpPr txBox="1"/>
          <p:nvPr/>
        </p:nvSpPr>
        <p:spPr>
          <a:xfrm>
            <a:off x="8529812" y="4989285"/>
            <a:ext cx="805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=-10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93E7A8-DDE6-3D8C-55D8-CE61C3AC8FA2}"/>
              </a:ext>
            </a:extLst>
          </p:cNvPr>
          <p:cNvSpPr txBox="1"/>
          <p:nvPr/>
        </p:nvSpPr>
        <p:spPr>
          <a:xfrm>
            <a:off x="10285159" y="4989285"/>
            <a:ext cx="752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=+5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4C8966-5611-0EB7-D6A3-C828B5A8520E}"/>
              </a:ext>
            </a:extLst>
          </p:cNvPr>
          <p:cNvSpPr txBox="1"/>
          <p:nvPr/>
        </p:nvSpPr>
        <p:spPr>
          <a:xfrm>
            <a:off x="9458200" y="4989285"/>
            <a:ext cx="6714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C7D6BF-8916-1CE0-A5B8-E70BF5D24ED7}"/>
              </a:ext>
            </a:extLst>
          </p:cNvPr>
          <p:cNvSpPr txBox="1"/>
          <p:nvPr/>
        </p:nvSpPr>
        <p:spPr>
          <a:xfrm>
            <a:off x="11102822" y="4989285"/>
            <a:ext cx="805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485" indent="-197485"/>
            <a:r>
              <a:rPr lang="en-US" sz="1200" dirty="0">
                <a:highlight>
                  <a:srgbClr val="FFFFFF"/>
                </a:highlight>
                <a:cs typeface="Arial"/>
              </a:rPr>
              <a:t>Z</a:t>
            </a:r>
            <a:r>
              <a:rPr lang="en-US" sz="1200" baseline="-25000" dirty="0">
                <a:highlight>
                  <a:srgbClr val="FFFFFF"/>
                </a:highlight>
                <a:cs typeface="Arial"/>
              </a:rPr>
              <a:t>2</a:t>
            </a:r>
            <a:r>
              <a:rPr lang="en-US" sz="1200" dirty="0">
                <a:highlight>
                  <a:srgbClr val="FFFFFF"/>
                </a:highlight>
                <a:cs typeface="Arial"/>
              </a:rPr>
              <a:t>=+10</a:t>
            </a:r>
          </a:p>
        </p:txBody>
      </p:sp>
    </p:spTree>
    <p:extLst>
      <p:ext uri="{BB962C8B-B14F-4D97-AF65-F5344CB8AC3E}">
        <p14:creationId xmlns:p14="http://schemas.microsoft.com/office/powerpoint/2010/main" val="187090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8379E33F-1E09-EDF3-B38F-0F55A114B38E}"/>
              </a:ext>
              <a:ext uri="{147F2762-F138-4A5C-976F-8EAC2B608ADB}">
                <a16:predDERef xmlns:a16="http://schemas.microsoft.com/office/drawing/2014/main" pred="{C3FCBDE0-310E-E828-C488-533B270AC5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88277" y="720624"/>
          <a:ext cx="9312275" cy="4545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0763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B84BBAB-5FEC-8DDA-2271-6DACC8F206E3}"/>
              </a:ext>
              <a:ext uri="{147F2762-F138-4A5C-976F-8EAC2B608ADB}">
                <a16:predDERef xmlns:a16="http://schemas.microsoft.com/office/drawing/2014/main" pred="{BCA69292-0B9B-4FC0-8D36-E26F0F971004}"/>
              </a:ext>
            </a:extLst>
          </p:cNvPr>
          <p:cNvGraphicFramePr>
            <a:graphicFrameLocks/>
          </p:cNvGraphicFramePr>
          <p:nvPr/>
        </p:nvGraphicFramePr>
        <p:xfrm>
          <a:off x="1361440" y="1608772"/>
          <a:ext cx="8823960" cy="4019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830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TU">
    <a:dk1>
      <a:srgbClr val="000000"/>
    </a:dk1>
    <a:lt1>
      <a:srgbClr val="FFFFFF"/>
    </a:lt1>
    <a:dk2>
      <a:srgbClr val="990000"/>
    </a:dk2>
    <a:lt2>
      <a:srgbClr val="79238E"/>
    </a:lt2>
    <a:accent1>
      <a:srgbClr val="990000"/>
    </a:accent1>
    <a:accent2>
      <a:srgbClr val="2F3EEA"/>
    </a:accent2>
    <a:accent3>
      <a:srgbClr val="1FD082"/>
    </a:accent3>
    <a:accent4>
      <a:srgbClr val="171748"/>
    </a:accent4>
    <a:accent5>
      <a:srgbClr val="F6D04D"/>
    </a:accent5>
    <a:accent6>
      <a:srgbClr val="FC7634"/>
    </a:accent6>
    <a:hlink>
      <a:srgbClr val="2F3EEA"/>
    </a:hlink>
    <a:folHlink>
      <a:srgbClr val="990000"/>
    </a:folHlink>
  </a:clrScheme>
  <a:fontScheme name="DTU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DTU">
    <a:dk1>
      <a:srgbClr val="000000"/>
    </a:dk1>
    <a:lt1>
      <a:srgbClr val="FFFFFF"/>
    </a:lt1>
    <a:dk2>
      <a:srgbClr val="990000"/>
    </a:dk2>
    <a:lt2>
      <a:srgbClr val="79238E"/>
    </a:lt2>
    <a:accent1>
      <a:srgbClr val="990000"/>
    </a:accent1>
    <a:accent2>
      <a:srgbClr val="2F3EEA"/>
    </a:accent2>
    <a:accent3>
      <a:srgbClr val="1FD082"/>
    </a:accent3>
    <a:accent4>
      <a:srgbClr val="171748"/>
    </a:accent4>
    <a:accent5>
      <a:srgbClr val="F6D04D"/>
    </a:accent5>
    <a:accent6>
      <a:srgbClr val="FC7634"/>
    </a:accent6>
    <a:hlink>
      <a:srgbClr val="2F3EEA"/>
    </a:hlink>
    <a:folHlink>
      <a:srgbClr val="990000"/>
    </a:folHlink>
  </a:clrScheme>
  <a:fontScheme name="DTU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DTU">
    <a:dk1>
      <a:srgbClr val="000000"/>
    </a:dk1>
    <a:lt1>
      <a:srgbClr val="FFFFFF"/>
    </a:lt1>
    <a:dk2>
      <a:srgbClr val="990000"/>
    </a:dk2>
    <a:lt2>
      <a:srgbClr val="79238E"/>
    </a:lt2>
    <a:accent1>
      <a:srgbClr val="990000"/>
    </a:accent1>
    <a:accent2>
      <a:srgbClr val="2F3EEA"/>
    </a:accent2>
    <a:accent3>
      <a:srgbClr val="1FD082"/>
    </a:accent3>
    <a:accent4>
      <a:srgbClr val="171748"/>
    </a:accent4>
    <a:accent5>
      <a:srgbClr val="F6D04D"/>
    </a:accent5>
    <a:accent6>
      <a:srgbClr val="FC7634"/>
    </a:accent6>
    <a:hlink>
      <a:srgbClr val="2F3EEA"/>
    </a:hlink>
    <a:folHlink>
      <a:srgbClr val="990000"/>
    </a:folHlink>
  </a:clrScheme>
  <a:fontScheme name="DTU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334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Reymond</dc:creator>
  <cp:lastModifiedBy>Hugo Reymond</cp:lastModifiedBy>
  <cp:revision>17</cp:revision>
  <dcterms:created xsi:type="dcterms:W3CDTF">2026-07-03T08:41:37Z</dcterms:created>
  <dcterms:modified xsi:type="dcterms:W3CDTF">2026-08-27T07:26:33Z</dcterms:modified>
</cp:coreProperties>
</file>